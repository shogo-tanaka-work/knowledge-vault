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5"/>
  </p:normalViewPr>
  <p:slideViewPr>
    <p:cSldViewPr snapToGrid="0" snapToObjects="1">
      <p:cViewPr>
        <p:scale>
          <a:sx n="115" d="100"/>
          <a:sy n="115" d="100"/>
        </p:scale>
        <p:origin x="664"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100" y="266700"/>
            <a:ext cx="1905000" cy="285750"/>
          </a:xfrm>
          <a:prstGeom prst="rect">
            <a:avLst/>
          </a:prstGeom>
          <a:noFill/>
        </p:spPr>
        <p:txBody>
          <a:bodyPr wrap="square" lIns="28575" tIns="9525" rIns="28575" bIns="9525" anchor="t">
            <a:spAutoFit/>
          </a:bodyPr>
          <a:lstStyle/>
          <a:p>
            <a:pPr algn="l"/>
            <a:r>
              <a:rPr sz="1650" b="1">
                <a:solidFill>
                  <a:srgbClr val="1A2B4A"/>
                </a:solidFill>
                <a:latin typeface="Noto Sans JP"/>
              </a:rPr>
              <a:t>2.1.</a:t>
            </a:r>
          </a:p>
        </p:txBody>
      </p:sp>
      <p:sp>
        <p:nvSpPr>
          <p:cNvPr id="3" name="TextBox 2"/>
          <p:cNvSpPr txBox="1"/>
          <p:nvPr/>
        </p:nvSpPr>
        <p:spPr>
          <a:xfrm>
            <a:off x="419100" y="552450"/>
            <a:ext cx="7620000" cy="171450"/>
          </a:xfrm>
          <a:prstGeom prst="rect">
            <a:avLst/>
          </a:prstGeom>
          <a:noFill/>
        </p:spPr>
        <p:txBody>
          <a:bodyPr wrap="square" lIns="28575" tIns="9525" rIns="28575" bIns="9525" anchor="t">
            <a:spAutoFit/>
          </a:bodyPr>
          <a:lstStyle/>
          <a:p>
            <a:pPr algn="l"/>
            <a:r>
              <a:rPr sz="975" b="0">
                <a:solidFill>
                  <a:srgbClr val="333333"/>
                </a:solidFill>
                <a:latin typeface="Noto Sans JP"/>
              </a:rPr>
              <a:t>2.1.3. AI 提案書作成ワークフローの現状 〜 提示まで</a:t>
            </a:r>
          </a:p>
        </p:txBody>
      </p:sp>
      <p:sp>
        <p:nvSpPr>
          <p:cNvPr id="4" name="Rectangle 3"/>
          <p:cNvSpPr/>
          <p:nvPr/>
        </p:nvSpPr>
        <p:spPr>
          <a:xfrm>
            <a:off x="419100" y="781050"/>
            <a:ext cx="47625" cy="476250"/>
          </a:xfrm>
          <a:prstGeom prst="rect">
            <a:avLst/>
          </a:pr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33400" y="781050"/>
            <a:ext cx="8096250" cy="476250"/>
          </a:xfrm>
          <a:prstGeom prst="rect">
            <a:avLst/>
          </a:prstGeom>
          <a:noFill/>
        </p:spPr>
        <p:txBody>
          <a:bodyPr wrap="square" lIns="28575" tIns="9525" rIns="28575" bIns="9525" anchor="t">
            <a:spAutoFit/>
          </a:bodyPr>
          <a:lstStyle/>
          <a:p>
            <a:pPr algn="l"/>
            <a:r>
              <a:rPr sz="1425" b="1">
                <a:solidFill>
                  <a:srgbClr val="1A2B4A"/>
                </a:solidFill>
                <a:latin typeface="Noto Sans JP"/>
              </a:rPr>
              <a:t>提案書作成までの全 9 工程のうち 8 工程を AI ツール群が担い、</a:t>
            </a:r>
          </a:p>
          <a:p>
            <a:pPr algn="l"/>
            <a:r>
              <a:rPr sz="1425" b="1">
                <a:solidFill>
                  <a:srgbClr val="1A2B4A"/>
                </a:solidFill>
                <a:latin typeface="Noto Sans JP"/>
              </a:rPr>
              <a:t>営業担当は最終確認 1 工程のみ担当している。</a:t>
            </a:r>
          </a:p>
        </p:txBody>
      </p:sp>
      <p:sp>
        <p:nvSpPr>
          <p:cNvPr id="6" name="Rectangle 5"/>
          <p:cNvSpPr/>
          <p:nvPr/>
        </p:nvSpPr>
        <p:spPr>
          <a:xfrm>
            <a:off x="8763000" y="266700"/>
            <a:ext cx="3048000" cy="723900"/>
          </a:xfrm>
          <a:prstGeom prst="rect">
            <a:avLst/>
          </a:prstGeom>
          <a:solidFill>
            <a:srgbClr val="FFFFFF"/>
          </a:solidFill>
          <a:ln w="9525">
            <a:solidFill>
              <a:srgbClr val="C9C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39200" y="304800"/>
            <a:ext cx="952500" cy="152400"/>
          </a:xfrm>
          <a:prstGeom prst="rect">
            <a:avLst/>
          </a:prstGeom>
          <a:noFill/>
        </p:spPr>
        <p:txBody>
          <a:bodyPr wrap="square" lIns="28575" tIns="9525" rIns="28575" bIns="9525" anchor="t">
            <a:spAutoFit/>
          </a:bodyPr>
          <a:lstStyle/>
          <a:p>
            <a:pPr algn="l"/>
            <a:r>
              <a:rPr sz="825" b="1">
                <a:solidFill>
                  <a:srgbClr val="333333"/>
                </a:solidFill>
                <a:latin typeface="Noto Sans JP"/>
              </a:rPr>
              <a:t>【凡例】</a:t>
            </a:r>
          </a:p>
        </p:txBody>
      </p:sp>
      <p:sp>
        <p:nvSpPr>
          <p:cNvPr id="8" name="Rectangle 7"/>
          <p:cNvSpPr/>
          <p:nvPr/>
        </p:nvSpPr>
        <p:spPr>
          <a:xfrm>
            <a:off x="8839200" y="495300"/>
            <a:ext cx="914400" cy="3810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1">
                <a:solidFill>
                  <a:srgbClr val="333333"/>
                </a:solidFill>
                <a:latin typeface="Noto Sans JP"/>
              </a:rPr>
              <a:t>機能群</a:t>
            </a:r>
          </a:p>
        </p:txBody>
      </p:sp>
      <p:sp>
        <p:nvSpPr>
          <p:cNvPr id="9" name="Rectangle 8"/>
          <p:cNvSpPr/>
          <p:nvPr/>
        </p:nvSpPr>
        <p:spPr>
          <a:xfrm>
            <a:off x="9829800" y="495300"/>
            <a:ext cx="914400" cy="381000"/>
          </a:xfrm>
          <a:prstGeom prst="rect">
            <a:avLst/>
          </a:prstGeom>
          <a:solidFill>
            <a:srgbClr val="FFFFFF"/>
          </a:solidFill>
          <a:ln w="14287">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1">
                <a:solidFill>
                  <a:srgbClr val="333333"/>
                </a:solidFill>
                <a:latin typeface="Noto Sans JP"/>
              </a:rPr>
              <a:t>実装方式</a:t>
            </a:r>
          </a:p>
        </p:txBody>
      </p:sp>
      <p:sp>
        <p:nvSpPr>
          <p:cNvPr id="10" name="Rectangle 9"/>
          <p:cNvSpPr/>
          <p:nvPr/>
        </p:nvSpPr>
        <p:spPr>
          <a:xfrm>
            <a:off x="10820400" y="495300"/>
            <a:ext cx="914400" cy="3810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50" b="1">
                <a:solidFill>
                  <a:srgbClr val="FFFFFF"/>
                </a:solidFill>
                <a:latin typeface="Noto Sans JP"/>
              </a:rPr>
              <a:t>運用事業者</a:t>
            </a:r>
          </a:p>
          <a:p>
            <a:pPr algn="ctr"/>
            <a:r>
              <a:rPr sz="750" b="1">
                <a:solidFill>
                  <a:srgbClr val="FFFFFF"/>
                </a:solidFill>
                <a:latin typeface="Noto Sans JP"/>
              </a:rPr>
              <a:t>独自開発の機能</a:t>
            </a:r>
          </a:p>
        </p:txBody>
      </p:sp>
      <p:sp>
        <p:nvSpPr>
          <p:cNvPr id="11" name="TextBox 10"/>
          <p:cNvSpPr txBox="1"/>
          <p:nvPr/>
        </p:nvSpPr>
        <p:spPr>
          <a:xfrm>
            <a:off x="476250" y="1371600"/>
            <a:ext cx="11239500" cy="228600"/>
          </a:xfrm>
          <a:prstGeom prst="rect">
            <a:avLst/>
          </a:prstGeom>
          <a:noFill/>
        </p:spPr>
        <p:txBody>
          <a:bodyPr wrap="square" lIns="28575" tIns="9525" rIns="28575" bIns="9525" anchor="t">
            <a:spAutoFit/>
          </a:bodyPr>
          <a:lstStyle/>
          <a:p>
            <a:pPr algn="l"/>
            <a:r>
              <a:rPr sz="862" b="0">
                <a:solidFill>
                  <a:srgbClr val="333333"/>
                </a:solidFill>
                <a:latin typeface="Noto Sans JP"/>
              </a:rPr>
              <a:t>●  AI ツール群は登録した商談データに基づき顧客 DB・案件 DB の更新及び CSV 出力を行い、最終成果物である提案書一式の作成を実施する。</a:t>
            </a:r>
          </a:p>
        </p:txBody>
      </p:sp>
      <p:sp>
        <p:nvSpPr>
          <p:cNvPr id="12" name="TextBox 11"/>
          <p:cNvSpPr txBox="1"/>
          <p:nvPr/>
        </p:nvSpPr>
        <p:spPr>
          <a:xfrm>
            <a:off x="476250" y="1562100"/>
            <a:ext cx="11239500" cy="228600"/>
          </a:xfrm>
          <a:prstGeom prst="rect">
            <a:avLst/>
          </a:prstGeom>
          <a:noFill/>
        </p:spPr>
        <p:txBody>
          <a:bodyPr wrap="square" lIns="28575" tIns="9525" rIns="28575" bIns="9525" anchor="t">
            <a:spAutoFit/>
          </a:bodyPr>
          <a:lstStyle/>
          <a:p>
            <a:pPr algn="l"/>
            <a:r>
              <a:rPr sz="862" b="0">
                <a:solidFill>
                  <a:srgbClr val="333333"/>
                </a:solidFill>
                <a:latin typeface="Noto Sans JP"/>
              </a:rPr>
              <a:t>●  営業担当は AI ツール群から受領した提案書一式を確認のうえクライアント商談で提示する。</a:t>
            </a:r>
          </a:p>
        </p:txBody>
      </p:sp>
      <p:sp>
        <p:nvSpPr>
          <p:cNvPr id="13" name="TextBox 12"/>
          <p:cNvSpPr txBox="1"/>
          <p:nvPr/>
        </p:nvSpPr>
        <p:spPr>
          <a:xfrm>
            <a:off x="476250" y="1866900"/>
            <a:ext cx="4381500" cy="171450"/>
          </a:xfrm>
          <a:prstGeom prst="rect">
            <a:avLst/>
          </a:prstGeom>
          <a:noFill/>
        </p:spPr>
        <p:txBody>
          <a:bodyPr wrap="square" lIns="28575" tIns="9525" rIns="28575" bIns="9525" anchor="ctr">
            <a:spAutoFit/>
          </a:bodyPr>
          <a:lstStyle/>
          <a:p>
            <a:pPr algn="ctr"/>
            <a:r>
              <a:rPr sz="825" b="1">
                <a:solidFill>
                  <a:srgbClr val="1A2B4A"/>
                </a:solidFill>
                <a:latin typeface="Noto Sans JP"/>
              </a:rPr>
              <a:t>👤 AI ツール群（運用基盤）</a:t>
            </a:r>
          </a:p>
        </p:txBody>
      </p:sp>
      <p:sp>
        <p:nvSpPr>
          <p:cNvPr id="14" name="TextBox 13"/>
          <p:cNvSpPr txBox="1"/>
          <p:nvPr/>
        </p:nvSpPr>
        <p:spPr>
          <a:xfrm>
            <a:off x="4857750" y="1866900"/>
            <a:ext cx="4381500" cy="171450"/>
          </a:xfrm>
          <a:prstGeom prst="rect">
            <a:avLst/>
          </a:prstGeom>
          <a:noFill/>
        </p:spPr>
        <p:txBody>
          <a:bodyPr wrap="square" lIns="28575" tIns="9525" rIns="28575" bIns="9525" anchor="ctr">
            <a:spAutoFit/>
          </a:bodyPr>
          <a:lstStyle/>
          <a:p>
            <a:pPr algn="ctr"/>
            <a:r>
              <a:rPr sz="825" b="1">
                <a:solidFill>
                  <a:srgbClr val="1A2B4A"/>
                </a:solidFill>
                <a:latin typeface="Noto Sans JP"/>
              </a:rPr>
              <a:t>👤 営業担当（事業部門）</a:t>
            </a:r>
          </a:p>
        </p:txBody>
      </p:sp>
      <p:sp>
        <p:nvSpPr>
          <p:cNvPr id="15" name="Chevron 14"/>
          <p:cNvSpPr/>
          <p:nvPr/>
        </p:nvSpPr>
        <p:spPr>
          <a:xfrm>
            <a:off x="476250" y="2095500"/>
            <a:ext cx="4381500" cy="285750"/>
          </a:xfrm>
          <a:prstGeom prst="chevron">
            <a:avLst/>
          </a:pr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862" b="1">
                <a:solidFill>
                  <a:srgbClr val="FFFFFF"/>
                </a:solidFill>
                <a:latin typeface="Noto Sans JP"/>
              </a:rPr>
              <a:t>受領・集計（AI ツール群）</a:t>
            </a:r>
          </a:p>
        </p:txBody>
      </p:sp>
      <p:sp>
        <p:nvSpPr>
          <p:cNvPr id="16" name="Chevron 15"/>
          <p:cNvSpPr/>
          <p:nvPr/>
        </p:nvSpPr>
        <p:spPr>
          <a:xfrm>
            <a:off x="4857750" y="2095500"/>
            <a:ext cx="4381500" cy="285750"/>
          </a:xfrm>
          <a:prstGeom prst="chevron">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862" b="1">
                <a:solidFill>
                  <a:srgbClr val="FFFFFF"/>
                </a:solidFill>
                <a:latin typeface="Noto Sans JP"/>
              </a:rPr>
              <a:t>提示（営業担当）</a:t>
            </a:r>
          </a:p>
        </p:txBody>
      </p:sp>
      <p:sp>
        <p:nvSpPr>
          <p:cNvPr id="17" name="Rectangle 16"/>
          <p:cNvSpPr/>
          <p:nvPr/>
        </p:nvSpPr>
        <p:spPr>
          <a:xfrm>
            <a:off x="476250" y="2438400"/>
            <a:ext cx="8763000" cy="3429000"/>
          </a:xfrm>
          <a:prstGeom prst="rect">
            <a:avLst/>
          </a:prstGeom>
          <a:solidFill>
            <a:srgbClr val="FFFFFF"/>
          </a:solidFill>
          <a:ln w="9525">
            <a:solidFill>
              <a:srgbClr val="C9CD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70770" y="2697804"/>
            <a:ext cx="641214" cy="366408"/>
          </a:xfrm>
          <a:prstGeom prst="rect">
            <a:avLst/>
          </a:prstGeom>
          <a:noFill/>
        </p:spPr>
        <p:txBody>
          <a:bodyPr wrap="square" lIns="28575" tIns="9525" rIns="28575" bIns="9525" anchor="ctr">
            <a:spAutoFit/>
          </a:bodyPr>
          <a:lstStyle/>
          <a:p>
            <a:pPr algn="ctr"/>
            <a:r>
              <a:rPr sz="825" b="1">
                <a:solidFill>
                  <a:srgbClr val="1A2B4A"/>
                </a:solidFill>
                <a:latin typeface="Noto Sans JP"/>
              </a:rPr>
              <a:t>旧 SFA</a:t>
            </a:r>
          </a:p>
          <a:p>
            <a:pPr algn="ctr"/>
            <a:r>
              <a:rPr sz="825" b="1">
                <a:solidFill>
                  <a:srgbClr val="1A2B4A"/>
                </a:solidFill>
                <a:latin typeface="Noto Sans JP"/>
              </a:rPr>
              <a:t>システム</a:t>
            </a:r>
          </a:p>
        </p:txBody>
      </p:sp>
      <p:sp>
        <p:nvSpPr>
          <p:cNvPr id="19" name="Rounded Rectangle 18"/>
          <p:cNvSpPr/>
          <p:nvPr/>
        </p:nvSpPr>
        <p:spPr>
          <a:xfrm>
            <a:off x="1450150"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0">
                <a:solidFill>
                  <a:srgbClr val="1A2B4A"/>
                </a:solidFill>
                <a:latin typeface="Noto Sans JP"/>
              </a:rPr>
              <a:t>取込・</a:t>
            </a:r>
          </a:p>
          <a:p>
            <a:pPr algn="ctr"/>
            <a:r>
              <a:rPr sz="787" b="0">
                <a:solidFill>
                  <a:srgbClr val="1A2B4A"/>
                </a:solidFill>
                <a:latin typeface="Noto Sans JP"/>
              </a:rPr>
              <a:t>顧客 DB 更新</a:t>
            </a:r>
          </a:p>
        </p:txBody>
      </p:sp>
      <p:sp>
        <p:nvSpPr>
          <p:cNvPr id="20" name="Rectangle 19"/>
          <p:cNvSpPr/>
          <p:nvPr/>
        </p:nvSpPr>
        <p:spPr>
          <a:xfrm>
            <a:off x="1615034"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画面</a:t>
            </a:r>
          </a:p>
        </p:txBody>
      </p:sp>
      <p:sp>
        <p:nvSpPr>
          <p:cNvPr id="21" name="Oval 20"/>
          <p:cNvSpPr/>
          <p:nvPr/>
        </p:nvSpPr>
        <p:spPr>
          <a:xfrm>
            <a:off x="1364425"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4</a:t>
            </a:r>
          </a:p>
        </p:txBody>
      </p:sp>
      <p:cxnSp>
        <p:nvCxnSpPr>
          <p:cNvPr id="22" name="Connector 21"/>
          <p:cNvCxnSpPr/>
          <p:nvPr/>
        </p:nvCxnSpPr>
        <p:spPr>
          <a:xfrm>
            <a:off x="2292890" y="3137494"/>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Magnetic Disk 22"/>
          <p:cNvSpPr/>
          <p:nvPr/>
        </p:nvSpPr>
        <p:spPr>
          <a:xfrm>
            <a:off x="2622658" y="2917649"/>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50" b="1">
                <a:solidFill>
                  <a:srgbClr val="1A2B4A"/>
                </a:solidFill>
                <a:latin typeface="Noto Sans JP"/>
              </a:rPr>
              <a:t>顧客 DB</a:t>
            </a:r>
          </a:p>
        </p:txBody>
      </p:sp>
      <p:cxnSp>
        <p:nvCxnSpPr>
          <p:cNvPr id="24" name="Connector 23"/>
          <p:cNvCxnSpPr/>
          <p:nvPr/>
        </p:nvCxnSpPr>
        <p:spPr>
          <a:xfrm>
            <a:off x="3135630" y="3137494"/>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47077"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0">
                <a:solidFill>
                  <a:srgbClr val="1A2B4A"/>
                </a:solidFill>
                <a:latin typeface="Noto Sans JP"/>
              </a:rPr>
              <a:t>案件サマリ更新</a:t>
            </a:r>
          </a:p>
          <a:p>
            <a:pPr algn="ctr"/>
            <a:r>
              <a:rPr sz="787" b="0">
                <a:solidFill>
                  <a:srgbClr val="1A2B4A"/>
                </a:solidFill>
                <a:latin typeface="Noto Sans JP"/>
              </a:rPr>
              <a:t>（集計）</a:t>
            </a:r>
          </a:p>
        </p:txBody>
      </p:sp>
      <p:sp>
        <p:nvSpPr>
          <p:cNvPr id="26" name="Rectangle 25"/>
          <p:cNvSpPr/>
          <p:nvPr/>
        </p:nvSpPr>
        <p:spPr>
          <a:xfrm>
            <a:off x="3611961"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画面</a:t>
            </a:r>
          </a:p>
        </p:txBody>
      </p:sp>
      <p:sp>
        <p:nvSpPr>
          <p:cNvPr id="27" name="Oval 26"/>
          <p:cNvSpPr/>
          <p:nvPr/>
        </p:nvSpPr>
        <p:spPr>
          <a:xfrm>
            <a:off x="3361352"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5</a:t>
            </a:r>
          </a:p>
        </p:txBody>
      </p:sp>
      <p:cxnSp>
        <p:nvCxnSpPr>
          <p:cNvPr id="28" name="Connector 27"/>
          <p:cNvCxnSpPr/>
          <p:nvPr/>
        </p:nvCxnSpPr>
        <p:spPr>
          <a:xfrm>
            <a:off x="4289816" y="3137494"/>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Magnetic Disk 28"/>
          <p:cNvSpPr/>
          <p:nvPr/>
        </p:nvSpPr>
        <p:spPr>
          <a:xfrm>
            <a:off x="4619584" y="2917649"/>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50" b="1">
                <a:solidFill>
                  <a:srgbClr val="1A2B4A"/>
                </a:solidFill>
                <a:latin typeface="Noto Sans JP"/>
              </a:rPr>
              <a:t>案件 DB</a:t>
            </a:r>
          </a:p>
        </p:txBody>
      </p:sp>
      <p:cxnSp>
        <p:nvCxnSpPr>
          <p:cNvPr id="30" name="Connector 29"/>
          <p:cNvCxnSpPr/>
          <p:nvPr/>
        </p:nvCxnSpPr>
        <p:spPr>
          <a:xfrm>
            <a:off x="5132556" y="3137494"/>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444003"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0">
                <a:solidFill>
                  <a:srgbClr val="1A2B4A"/>
                </a:solidFill>
                <a:latin typeface="Noto Sans JP"/>
              </a:rPr>
              <a:t>データ加工・</a:t>
            </a:r>
          </a:p>
          <a:p>
            <a:pPr algn="ctr"/>
            <a:r>
              <a:rPr sz="787" b="0">
                <a:solidFill>
                  <a:srgbClr val="1A2B4A"/>
                </a:solidFill>
                <a:latin typeface="Noto Sans JP"/>
              </a:rPr>
              <a:t>CSV 出力</a:t>
            </a:r>
          </a:p>
        </p:txBody>
      </p:sp>
      <p:sp>
        <p:nvSpPr>
          <p:cNvPr id="32" name="Rectangle 31"/>
          <p:cNvSpPr/>
          <p:nvPr/>
        </p:nvSpPr>
        <p:spPr>
          <a:xfrm>
            <a:off x="5608887"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画面</a:t>
            </a:r>
          </a:p>
        </p:txBody>
      </p:sp>
      <p:cxnSp>
        <p:nvCxnSpPr>
          <p:cNvPr id="33" name="Connector 32"/>
          <p:cNvCxnSpPr/>
          <p:nvPr/>
        </p:nvCxnSpPr>
        <p:spPr>
          <a:xfrm>
            <a:off x="2879144" y="3357339"/>
            <a:ext cx="0" cy="42137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201288" y="3778709"/>
            <a:ext cx="1355711"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0">
                <a:solidFill>
                  <a:srgbClr val="1A2B4A"/>
                </a:solidFill>
                <a:latin typeface="Noto Sans JP"/>
              </a:rPr>
              <a:t>エラーチェック・疑義・</a:t>
            </a:r>
          </a:p>
          <a:p>
            <a:pPr algn="ctr"/>
            <a:r>
              <a:rPr sz="787" b="0">
                <a:solidFill>
                  <a:srgbClr val="1A2B4A"/>
                </a:solidFill>
                <a:latin typeface="Noto Sans JP"/>
              </a:rPr>
              <a:t>報告状況等照会</a:t>
            </a:r>
          </a:p>
        </p:txBody>
      </p:sp>
      <p:sp>
        <p:nvSpPr>
          <p:cNvPr id="35" name="Rectangle 34"/>
          <p:cNvSpPr/>
          <p:nvPr/>
        </p:nvSpPr>
        <p:spPr>
          <a:xfrm>
            <a:off x="2622658" y="4163438"/>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画面</a:t>
            </a:r>
          </a:p>
        </p:txBody>
      </p:sp>
      <p:sp>
        <p:nvSpPr>
          <p:cNvPr id="36" name="Oval 35"/>
          <p:cNvSpPr/>
          <p:nvPr/>
        </p:nvSpPr>
        <p:spPr>
          <a:xfrm>
            <a:off x="2115563" y="3692984"/>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4</a:t>
            </a:r>
          </a:p>
        </p:txBody>
      </p:sp>
      <p:sp>
        <p:nvSpPr>
          <p:cNvPr id="37" name="Folded Corner 36"/>
          <p:cNvSpPr/>
          <p:nvPr/>
        </p:nvSpPr>
        <p:spPr>
          <a:xfrm>
            <a:off x="6414986" y="2972610"/>
            <a:ext cx="311447" cy="403049"/>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23384" y="3412300"/>
            <a:ext cx="494651" cy="256485"/>
          </a:xfrm>
          <a:prstGeom prst="rect">
            <a:avLst/>
          </a:prstGeom>
          <a:noFill/>
        </p:spPr>
        <p:txBody>
          <a:bodyPr wrap="square" lIns="28575" tIns="9525" rIns="28575" bIns="9525" anchor="t">
            <a:spAutoFit/>
          </a:bodyPr>
          <a:lstStyle/>
          <a:p>
            <a:pPr algn="ctr"/>
            <a:r>
              <a:rPr sz="712" b="0">
                <a:solidFill>
                  <a:srgbClr val="333333"/>
                </a:solidFill>
                <a:latin typeface="Noto Sans JP"/>
              </a:rPr>
              <a:t>チェック用</a:t>
            </a:r>
          </a:p>
          <a:p>
            <a:pPr algn="ctr"/>
            <a:r>
              <a:rPr sz="712" b="0">
                <a:solidFill>
                  <a:srgbClr val="333333"/>
                </a:solidFill>
                <a:latin typeface="Noto Sans JP"/>
              </a:rPr>
              <a:t>提案書 (13 件)</a:t>
            </a:r>
          </a:p>
        </p:txBody>
      </p:sp>
      <p:cxnSp>
        <p:nvCxnSpPr>
          <p:cNvPr id="39" name="Connector 38"/>
          <p:cNvCxnSpPr/>
          <p:nvPr/>
        </p:nvCxnSpPr>
        <p:spPr>
          <a:xfrm>
            <a:off x="6286743" y="3137494"/>
            <a:ext cx="128243"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329261"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7</a:t>
            </a:r>
          </a:p>
        </p:txBody>
      </p:sp>
      <p:sp>
        <p:nvSpPr>
          <p:cNvPr id="41" name="TextBox 40"/>
          <p:cNvSpPr txBox="1"/>
          <p:nvPr/>
        </p:nvSpPr>
        <p:spPr>
          <a:xfrm>
            <a:off x="570770" y="4401603"/>
            <a:ext cx="641214" cy="366408"/>
          </a:xfrm>
          <a:prstGeom prst="rect">
            <a:avLst/>
          </a:prstGeom>
          <a:noFill/>
        </p:spPr>
        <p:txBody>
          <a:bodyPr wrap="square" lIns="28575" tIns="9525" rIns="28575" bIns="9525" anchor="ctr">
            <a:spAutoFit/>
          </a:bodyPr>
          <a:lstStyle/>
          <a:p>
            <a:pPr algn="ctr"/>
            <a:r>
              <a:rPr sz="825" b="1">
                <a:solidFill>
                  <a:srgbClr val="1A2B4A"/>
                </a:solidFill>
                <a:latin typeface="Noto Sans JP"/>
              </a:rPr>
              <a:t>新クラウド</a:t>
            </a:r>
          </a:p>
          <a:p>
            <a:pPr algn="ctr"/>
            <a:r>
              <a:rPr sz="825" b="1">
                <a:solidFill>
                  <a:srgbClr val="1A2B4A"/>
                </a:solidFill>
                <a:latin typeface="Noto Sans JP"/>
              </a:rPr>
              <a:t>AI システム</a:t>
            </a:r>
          </a:p>
        </p:txBody>
      </p:sp>
      <p:sp>
        <p:nvSpPr>
          <p:cNvPr id="42" name="Rounded Rectangle 41"/>
          <p:cNvSpPr/>
          <p:nvPr/>
        </p:nvSpPr>
        <p:spPr>
          <a:xfrm>
            <a:off x="1450150"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0">
                <a:solidFill>
                  <a:srgbClr val="1A2B4A"/>
                </a:solidFill>
                <a:latin typeface="Noto Sans JP"/>
              </a:rPr>
              <a:t>取込・</a:t>
            </a:r>
          </a:p>
          <a:p>
            <a:pPr algn="ctr"/>
            <a:r>
              <a:rPr sz="787" b="0">
                <a:solidFill>
                  <a:srgbClr val="1A2B4A"/>
                </a:solidFill>
                <a:latin typeface="Noto Sans JP"/>
              </a:rPr>
              <a:t>顧客 DB 更新</a:t>
            </a:r>
          </a:p>
        </p:txBody>
      </p:sp>
      <p:sp>
        <p:nvSpPr>
          <p:cNvPr id="43" name="Rectangle 42"/>
          <p:cNvSpPr/>
          <p:nvPr/>
        </p:nvSpPr>
        <p:spPr>
          <a:xfrm>
            <a:off x="1615034"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タスク</a:t>
            </a:r>
          </a:p>
        </p:txBody>
      </p:sp>
      <p:sp>
        <p:nvSpPr>
          <p:cNvPr id="44" name="Oval 43"/>
          <p:cNvSpPr/>
          <p:nvPr/>
        </p:nvSpPr>
        <p:spPr>
          <a:xfrm>
            <a:off x="1364425" y="453572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4</a:t>
            </a:r>
          </a:p>
        </p:txBody>
      </p:sp>
      <p:cxnSp>
        <p:nvCxnSpPr>
          <p:cNvPr id="45" name="Connector 44"/>
          <p:cNvCxnSpPr/>
          <p:nvPr/>
        </p:nvCxnSpPr>
        <p:spPr>
          <a:xfrm>
            <a:off x="2292890" y="4786332"/>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Magnetic Disk 45"/>
          <p:cNvSpPr/>
          <p:nvPr/>
        </p:nvSpPr>
        <p:spPr>
          <a:xfrm>
            <a:off x="2622658" y="4566487"/>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50" b="1">
                <a:solidFill>
                  <a:srgbClr val="1A2B4A"/>
                </a:solidFill>
                <a:latin typeface="Noto Sans JP"/>
              </a:rPr>
              <a:t>顧客 DB</a:t>
            </a:r>
          </a:p>
        </p:txBody>
      </p:sp>
      <p:cxnSp>
        <p:nvCxnSpPr>
          <p:cNvPr id="47" name="Connector 46"/>
          <p:cNvCxnSpPr/>
          <p:nvPr/>
        </p:nvCxnSpPr>
        <p:spPr>
          <a:xfrm>
            <a:off x="3135630" y="4786332"/>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3447077"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0">
                <a:solidFill>
                  <a:srgbClr val="1A2B4A"/>
                </a:solidFill>
                <a:latin typeface="Noto Sans JP"/>
              </a:rPr>
              <a:t>案件サマリ更新</a:t>
            </a:r>
          </a:p>
          <a:p>
            <a:pPr algn="ctr"/>
            <a:r>
              <a:rPr sz="787" b="0">
                <a:solidFill>
                  <a:srgbClr val="1A2B4A"/>
                </a:solidFill>
                <a:latin typeface="Noto Sans JP"/>
              </a:rPr>
              <a:t>（集計）</a:t>
            </a:r>
          </a:p>
        </p:txBody>
      </p:sp>
      <p:sp>
        <p:nvSpPr>
          <p:cNvPr id="49" name="Rectangle 48"/>
          <p:cNvSpPr/>
          <p:nvPr/>
        </p:nvSpPr>
        <p:spPr>
          <a:xfrm>
            <a:off x="3611961"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タスク</a:t>
            </a:r>
          </a:p>
        </p:txBody>
      </p:sp>
      <p:sp>
        <p:nvSpPr>
          <p:cNvPr id="50" name="Oval 49"/>
          <p:cNvSpPr/>
          <p:nvPr/>
        </p:nvSpPr>
        <p:spPr>
          <a:xfrm>
            <a:off x="3361352" y="453572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5</a:t>
            </a:r>
          </a:p>
        </p:txBody>
      </p:sp>
      <p:cxnSp>
        <p:nvCxnSpPr>
          <p:cNvPr id="51" name="Connector 50"/>
          <p:cNvCxnSpPr/>
          <p:nvPr/>
        </p:nvCxnSpPr>
        <p:spPr>
          <a:xfrm>
            <a:off x="4289816" y="4786332"/>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Magnetic Disk 51"/>
          <p:cNvSpPr/>
          <p:nvPr/>
        </p:nvSpPr>
        <p:spPr>
          <a:xfrm>
            <a:off x="4619584" y="4566487"/>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50" b="1">
                <a:solidFill>
                  <a:srgbClr val="1A2B4A"/>
                </a:solidFill>
                <a:latin typeface="Noto Sans JP"/>
              </a:rPr>
              <a:t>案件 DB</a:t>
            </a:r>
          </a:p>
        </p:txBody>
      </p:sp>
      <p:cxnSp>
        <p:nvCxnSpPr>
          <p:cNvPr id="53" name="Connector 52"/>
          <p:cNvCxnSpPr/>
          <p:nvPr/>
        </p:nvCxnSpPr>
        <p:spPr>
          <a:xfrm>
            <a:off x="5132556" y="4786332"/>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5444003"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0">
                <a:solidFill>
                  <a:srgbClr val="1A2B4A"/>
                </a:solidFill>
                <a:latin typeface="Noto Sans JP"/>
              </a:rPr>
              <a:t>データ加工・</a:t>
            </a:r>
          </a:p>
          <a:p>
            <a:pPr algn="ctr"/>
            <a:r>
              <a:rPr sz="787" b="0">
                <a:solidFill>
                  <a:srgbClr val="1A2B4A"/>
                </a:solidFill>
                <a:latin typeface="Noto Sans JP"/>
              </a:rPr>
              <a:t>CSV 出力</a:t>
            </a:r>
          </a:p>
        </p:txBody>
      </p:sp>
      <p:sp>
        <p:nvSpPr>
          <p:cNvPr id="55" name="Rectangle 54"/>
          <p:cNvSpPr/>
          <p:nvPr/>
        </p:nvSpPr>
        <p:spPr>
          <a:xfrm>
            <a:off x="5608887"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タスク</a:t>
            </a:r>
          </a:p>
        </p:txBody>
      </p:sp>
      <p:cxnSp>
        <p:nvCxnSpPr>
          <p:cNvPr id="56" name="Connector 55"/>
          <p:cNvCxnSpPr/>
          <p:nvPr/>
        </p:nvCxnSpPr>
        <p:spPr>
          <a:xfrm>
            <a:off x="2879144" y="5006177"/>
            <a:ext cx="0" cy="293127"/>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2201288" y="5299304"/>
            <a:ext cx="1355711" cy="31144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0">
                <a:solidFill>
                  <a:srgbClr val="1A2B4A"/>
                </a:solidFill>
                <a:latin typeface="Noto Sans JP"/>
              </a:rPr>
              <a:t>エラーチェック・疑義・</a:t>
            </a:r>
          </a:p>
          <a:p>
            <a:pPr algn="ctr"/>
            <a:r>
              <a:rPr sz="787" b="0">
                <a:solidFill>
                  <a:srgbClr val="1A2B4A"/>
                </a:solidFill>
                <a:latin typeface="Noto Sans JP"/>
              </a:rPr>
              <a:t>報告状況等照会</a:t>
            </a:r>
          </a:p>
        </p:txBody>
      </p:sp>
      <p:sp>
        <p:nvSpPr>
          <p:cNvPr id="58" name="Rectangle 57"/>
          <p:cNvSpPr/>
          <p:nvPr/>
        </p:nvSpPr>
        <p:spPr>
          <a:xfrm>
            <a:off x="2622658" y="5647392"/>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画面</a:t>
            </a:r>
          </a:p>
        </p:txBody>
      </p:sp>
      <p:sp>
        <p:nvSpPr>
          <p:cNvPr id="59" name="Oval 58"/>
          <p:cNvSpPr/>
          <p:nvPr/>
        </p:nvSpPr>
        <p:spPr>
          <a:xfrm>
            <a:off x="2115563" y="521357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4</a:t>
            </a:r>
          </a:p>
        </p:txBody>
      </p:sp>
      <p:cxnSp>
        <p:nvCxnSpPr>
          <p:cNvPr id="60" name="Connector 59"/>
          <p:cNvCxnSpPr/>
          <p:nvPr/>
        </p:nvCxnSpPr>
        <p:spPr>
          <a:xfrm>
            <a:off x="3556999" y="5445868"/>
            <a:ext cx="27480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3831806" y="5299304"/>
            <a:ext cx="1007623" cy="311447"/>
          </a:xfrm>
          <a:prstGeom prst="roundRect">
            <a:avLst>
              <a:gd name="adj" fmla="val 6000"/>
            </a:avLst>
          </a:prstGeom>
          <a:solidFill>
            <a:srgbClr val="D6E4F5"/>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87" b="1">
                <a:solidFill>
                  <a:srgbClr val="1A2B4A"/>
                </a:solidFill>
                <a:latin typeface="Noto Sans JP"/>
              </a:rPr>
              <a:t>チェック用</a:t>
            </a:r>
          </a:p>
          <a:p>
            <a:pPr algn="ctr"/>
            <a:r>
              <a:rPr sz="787" b="1">
                <a:solidFill>
                  <a:srgbClr val="1A2B4A"/>
                </a:solidFill>
                <a:latin typeface="Noto Sans JP"/>
              </a:rPr>
              <a:t>データ参照</a:t>
            </a:r>
          </a:p>
        </p:txBody>
      </p:sp>
      <p:sp>
        <p:nvSpPr>
          <p:cNvPr id="62" name="Rectangle 61"/>
          <p:cNvSpPr/>
          <p:nvPr/>
        </p:nvSpPr>
        <p:spPr>
          <a:xfrm>
            <a:off x="4079131" y="5647392"/>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画面</a:t>
            </a:r>
          </a:p>
        </p:txBody>
      </p:sp>
      <p:sp>
        <p:nvSpPr>
          <p:cNvPr id="63" name="Oval 62"/>
          <p:cNvSpPr/>
          <p:nvPr/>
        </p:nvSpPr>
        <p:spPr>
          <a:xfrm>
            <a:off x="3746081" y="521357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6</a:t>
            </a:r>
          </a:p>
        </p:txBody>
      </p:sp>
      <p:sp>
        <p:nvSpPr>
          <p:cNvPr id="64" name="Folded Corner 63"/>
          <p:cNvSpPr/>
          <p:nvPr/>
        </p:nvSpPr>
        <p:spPr>
          <a:xfrm>
            <a:off x="6158500" y="5299304"/>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094378" y="5684033"/>
            <a:ext cx="403049" cy="128242"/>
          </a:xfrm>
          <a:prstGeom prst="rect">
            <a:avLst/>
          </a:prstGeom>
          <a:noFill/>
        </p:spPr>
        <p:txBody>
          <a:bodyPr wrap="square" lIns="28575" tIns="9525" rIns="28575" bIns="9525" anchor="t">
            <a:spAutoFit/>
          </a:bodyPr>
          <a:lstStyle/>
          <a:p>
            <a:pPr algn="ctr"/>
            <a:r>
              <a:rPr sz="712" b="0">
                <a:solidFill>
                  <a:srgbClr val="333333"/>
                </a:solidFill>
                <a:latin typeface="Noto Sans JP"/>
              </a:rPr>
              <a:t>CSV</a:t>
            </a:r>
          </a:p>
        </p:txBody>
      </p:sp>
      <p:cxnSp>
        <p:nvCxnSpPr>
          <p:cNvPr id="66" name="Connector 65"/>
          <p:cNvCxnSpPr/>
          <p:nvPr/>
        </p:nvCxnSpPr>
        <p:spPr>
          <a:xfrm>
            <a:off x="6286743" y="5171061"/>
            <a:ext cx="0" cy="128243"/>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001239" y="3980234"/>
            <a:ext cx="732817" cy="366408"/>
          </a:xfrm>
          <a:prstGeom prst="roundRect">
            <a:avLst>
              <a:gd name="adj" fmla="val 6000"/>
            </a:avLst>
          </a:prstGeom>
          <a:solidFill>
            <a:srgbClr val="FFFFFF"/>
          </a:solidFill>
          <a:ln w="13335">
            <a:solidFill>
              <a:srgbClr val="1A2B4A"/>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825" b="1">
                <a:solidFill>
                  <a:srgbClr val="1A2B4A"/>
                </a:solidFill>
                <a:latin typeface="Noto Sans JP"/>
              </a:rPr>
              <a:t>提案書作成</a:t>
            </a:r>
          </a:p>
        </p:txBody>
      </p:sp>
      <p:sp>
        <p:nvSpPr>
          <p:cNvPr id="68" name="Rectangle 67"/>
          <p:cNvSpPr/>
          <p:nvPr/>
        </p:nvSpPr>
        <p:spPr>
          <a:xfrm>
            <a:off x="7147803" y="4401603"/>
            <a:ext cx="439690"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712" b="0">
                <a:solidFill>
                  <a:srgbClr val="333333"/>
                </a:solidFill>
                <a:latin typeface="Noto Sans JP"/>
              </a:rPr>
              <a:t>マクロ</a:t>
            </a:r>
          </a:p>
        </p:txBody>
      </p:sp>
      <p:sp>
        <p:nvSpPr>
          <p:cNvPr id="69" name="Oval 68"/>
          <p:cNvSpPr/>
          <p:nvPr/>
        </p:nvSpPr>
        <p:spPr>
          <a:xfrm>
            <a:off x="6915514" y="389450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8</a:t>
            </a:r>
          </a:p>
        </p:txBody>
      </p:sp>
      <p:cxnSp>
        <p:nvCxnSpPr>
          <p:cNvPr id="70" name="Connector 69"/>
          <p:cNvCxnSpPr/>
          <p:nvPr/>
        </p:nvCxnSpPr>
        <p:spPr>
          <a:xfrm>
            <a:off x="6763074" y="3229096"/>
            <a:ext cx="238165" cy="84274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6433306" y="4255040"/>
            <a:ext cx="567933" cy="1190828"/>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2" name="Folded Corner 71"/>
          <p:cNvSpPr/>
          <p:nvPr/>
        </p:nvSpPr>
        <p:spPr>
          <a:xfrm>
            <a:off x="8210387" y="2954290"/>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972222" y="3339019"/>
            <a:ext cx="732817" cy="366408"/>
          </a:xfrm>
          <a:prstGeom prst="rect">
            <a:avLst/>
          </a:prstGeom>
          <a:noFill/>
        </p:spPr>
        <p:txBody>
          <a:bodyPr wrap="square" lIns="28575" tIns="9525" rIns="28575" bIns="9525" anchor="t">
            <a:spAutoFit/>
          </a:bodyPr>
          <a:lstStyle/>
          <a:p>
            <a:pPr algn="ctr"/>
            <a:r>
              <a:rPr sz="712" b="0">
                <a:solidFill>
                  <a:srgbClr val="333333"/>
                </a:solidFill>
                <a:latin typeface="Noto Sans JP"/>
              </a:rPr>
              <a:t>経営層</a:t>
            </a:r>
          </a:p>
          <a:p>
            <a:pPr algn="ctr"/>
            <a:r>
              <a:rPr sz="712" b="0">
                <a:solidFill>
                  <a:srgbClr val="333333"/>
                </a:solidFill>
                <a:latin typeface="Noto Sans JP"/>
              </a:rPr>
              <a:t>提出資料</a:t>
            </a:r>
          </a:p>
          <a:p>
            <a:pPr algn="ctr"/>
            <a:r>
              <a:rPr sz="712" b="0">
                <a:solidFill>
                  <a:srgbClr val="333333"/>
                </a:solidFill>
                <a:latin typeface="Noto Sans JP"/>
              </a:rPr>
              <a:t>(73 件)</a:t>
            </a:r>
          </a:p>
        </p:txBody>
      </p:sp>
      <p:cxnSp>
        <p:nvCxnSpPr>
          <p:cNvPr id="74" name="Connector 73"/>
          <p:cNvCxnSpPr/>
          <p:nvPr/>
        </p:nvCxnSpPr>
        <p:spPr>
          <a:xfrm flipV="1">
            <a:off x="7734056" y="3137494"/>
            <a:ext cx="476331" cy="934342"/>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8124662" y="286856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9</a:t>
            </a:r>
          </a:p>
        </p:txBody>
      </p:sp>
      <p:sp>
        <p:nvSpPr>
          <p:cNvPr id="76" name="Folded Corner 75"/>
          <p:cNvSpPr/>
          <p:nvPr/>
        </p:nvSpPr>
        <p:spPr>
          <a:xfrm>
            <a:off x="8210387" y="3980234"/>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972222" y="4364962"/>
            <a:ext cx="732817" cy="366408"/>
          </a:xfrm>
          <a:prstGeom prst="rect">
            <a:avLst/>
          </a:prstGeom>
          <a:noFill/>
        </p:spPr>
        <p:txBody>
          <a:bodyPr wrap="square" lIns="28575" tIns="9525" rIns="28575" bIns="9525" anchor="t">
            <a:spAutoFit/>
          </a:bodyPr>
          <a:lstStyle/>
          <a:p>
            <a:pPr algn="ctr"/>
            <a:r>
              <a:rPr sz="712" b="0">
                <a:solidFill>
                  <a:srgbClr val="333333"/>
                </a:solidFill>
                <a:latin typeface="Noto Sans JP"/>
              </a:rPr>
              <a:t>クライアント</a:t>
            </a:r>
          </a:p>
          <a:p>
            <a:pPr algn="ctr"/>
            <a:r>
              <a:rPr sz="712" b="0">
                <a:solidFill>
                  <a:srgbClr val="333333"/>
                </a:solidFill>
                <a:latin typeface="Noto Sans JP"/>
              </a:rPr>
              <a:t>提出帳票</a:t>
            </a:r>
          </a:p>
          <a:p>
            <a:pPr algn="ctr"/>
            <a:r>
              <a:rPr sz="712" b="0">
                <a:solidFill>
                  <a:srgbClr val="333333"/>
                </a:solidFill>
                <a:latin typeface="Noto Sans JP"/>
              </a:rPr>
              <a:t>(51 件)</a:t>
            </a:r>
          </a:p>
        </p:txBody>
      </p:sp>
      <p:cxnSp>
        <p:nvCxnSpPr>
          <p:cNvPr id="78" name="Connector 77"/>
          <p:cNvCxnSpPr/>
          <p:nvPr/>
        </p:nvCxnSpPr>
        <p:spPr>
          <a:xfrm>
            <a:off x="7734056" y="4163438"/>
            <a:ext cx="476331"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8124662" y="389450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9</a:t>
            </a:r>
          </a:p>
        </p:txBody>
      </p:sp>
      <p:sp>
        <p:nvSpPr>
          <p:cNvPr id="80" name="Folded Corner 79"/>
          <p:cNvSpPr/>
          <p:nvPr/>
        </p:nvSpPr>
        <p:spPr>
          <a:xfrm>
            <a:off x="8210387" y="5042818"/>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972222" y="5427547"/>
            <a:ext cx="732817" cy="366408"/>
          </a:xfrm>
          <a:prstGeom prst="rect">
            <a:avLst/>
          </a:prstGeom>
          <a:noFill/>
        </p:spPr>
        <p:txBody>
          <a:bodyPr wrap="square" lIns="28575" tIns="9525" rIns="28575" bIns="9525" anchor="t">
            <a:spAutoFit/>
          </a:bodyPr>
          <a:lstStyle/>
          <a:p>
            <a:pPr algn="ctr"/>
            <a:r>
              <a:rPr sz="712" b="0">
                <a:solidFill>
                  <a:srgbClr val="333333"/>
                </a:solidFill>
                <a:latin typeface="Noto Sans JP"/>
              </a:rPr>
              <a:t>社内共有</a:t>
            </a:r>
          </a:p>
          <a:p>
            <a:pPr algn="ctr"/>
            <a:r>
              <a:rPr sz="712" b="0">
                <a:solidFill>
                  <a:srgbClr val="333333"/>
                </a:solidFill>
                <a:latin typeface="Noto Sans JP"/>
              </a:rPr>
              <a:t>提案書</a:t>
            </a:r>
          </a:p>
          <a:p>
            <a:pPr algn="ctr"/>
            <a:r>
              <a:rPr sz="712" b="0">
                <a:solidFill>
                  <a:srgbClr val="333333"/>
                </a:solidFill>
                <a:latin typeface="Noto Sans JP"/>
              </a:rPr>
              <a:t>(1 件)</a:t>
            </a:r>
          </a:p>
        </p:txBody>
      </p:sp>
      <p:cxnSp>
        <p:nvCxnSpPr>
          <p:cNvPr id="82" name="Connector 81"/>
          <p:cNvCxnSpPr/>
          <p:nvPr/>
        </p:nvCxnSpPr>
        <p:spPr>
          <a:xfrm>
            <a:off x="7734056" y="4300841"/>
            <a:ext cx="476331" cy="916021"/>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8124662" y="495709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9</a:t>
            </a:r>
          </a:p>
        </p:txBody>
      </p:sp>
      <p:sp>
        <p:nvSpPr>
          <p:cNvPr id="84" name="TextBox 83"/>
          <p:cNvSpPr txBox="1"/>
          <p:nvPr/>
        </p:nvSpPr>
        <p:spPr>
          <a:xfrm>
            <a:off x="9429750" y="1238250"/>
            <a:ext cx="2286000" cy="209550"/>
          </a:xfrm>
          <a:prstGeom prst="rect">
            <a:avLst/>
          </a:prstGeom>
          <a:noFill/>
        </p:spPr>
        <p:txBody>
          <a:bodyPr wrap="square" lIns="28575" tIns="9525" rIns="28575" bIns="9525" anchor="t">
            <a:spAutoFit/>
          </a:bodyPr>
          <a:lstStyle/>
          <a:p>
            <a:pPr algn="l"/>
            <a:r>
              <a:rPr sz="1050" b="1">
                <a:solidFill>
                  <a:srgbClr val="333333"/>
                </a:solidFill>
                <a:latin typeface="Noto Sans JP"/>
              </a:rPr>
              <a:t>主な業務内容</a:t>
            </a:r>
          </a:p>
        </p:txBody>
      </p:sp>
      <p:sp>
        <p:nvSpPr>
          <p:cNvPr id="85" name="Rectangle 84"/>
          <p:cNvSpPr/>
          <p:nvPr/>
        </p:nvSpPr>
        <p:spPr>
          <a:xfrm>
            <a:off x="9429750" y="1447800"/>
            <a:ext cx="2286000" cy="14287"/>
          </a:xfrm>
          <a:prstGeom prst="rect">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9429750" y="15049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4</a:t>
            </a:r>
          </a:p>
        </p:txBody>
      </p:sp>
      <p:sp>
        <p:nvSpPr>
          <p:cNvPr id="87" name="TextBox 86"/>
          <p:cNvSpPr txBox="1"/>
          <p:nvPr/>
        </p:nvSpPr>
        <p:spPr>
          <a:xfrm>
            <a:off x="9696450" y="1543050"/>
            <a:ext cx="2095500" cy="171450"/>
          </a:xfrm>
          <a:prstGeom prst="rect">
            <a:avLst/>
          </a:prstGeom>
          <a:noFill/>
        </p:spPr>
        <p:txBody>
          <a:bodyPr wrap="square" lIns="28575" tIns="9525" rIns="28575" bIns="9525" anchor="t">
            <a:spAutoFit/>
          </a:bodyPr>
          <a:lstStyle/>
          <a:p>
            <a:pPr algn="l"/>
            <a:r>
              <a:rPr sz="862" b="1">
                <a:solidFill>
                  <a:srgbClr val="333333"/>
                </a:solidFill>
                <a:latin typeface="Noto Sans JP"/>
              </a:rPr>
              <a:t>エラーチェック・疑義の確認及び修正</a:t>
            </a:r>
          </a:p>
        </p:txBody>
      </p:sp>
      <p:sp>
        <p:nvSpPr>
          <p:cNvPr id="88" name="TextBox 87"/>
          <p:cNvSpPr txBox="1"/>
          <p:nvPr/>
        </p:nvSpPr>
        <p:spPr>
          <a:xfrm>
            <a:off x="9696450" y="1714500"/>
            <a:ext cx="2095500" cy="552450"/>
          </a:xfrm>
          <a:prstGeom prst="rect">
            <a:avLst/>
          </a:prstGeom>
          <a:noFill/>
        </p:spPr>
        <p:txBody>
          <a:bodyPr wrap="square" lIns="28575" tIns="9525" rIns="28575" bIns="9525" anchor="t">
            <a:spAutoFit/>
          </a:bodyPr>
          <a:lstStyle/>
          <a:p>
            <a:pPr algn="l"/>
            <a:r>
              <a:rPr sz="750" b="0">
                <a:solidFill>
                  <a:srgbClr val="444444"/>
                </a:solidFill>
                <a:latin typeface="Noto Sans JP"/>
              </a:rPr>
              <a:t>提出された商談データにエラー・疑義があった場合、営業担当に確認の上修正を実施する（※現行業務では旧 SFA 側の画面を利用）</a:t>
            </a:r>
          </a:p>
        </p:txBody>
      </p:sp>
      <p:sp>
        <p:nvSpPr>
          <p:cNvPr id="89" name="Oval 88"/>
          <p:cNvSpPr/>
          <p:nvPr/>
        </p:nvSpPr>
        <p:spPr>
          <a:xfrm>
            <a:off x="9429750" y="22288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5</a:t>
            </a:r>
          </a:p>
        </p:txBody>
      </p:sp>
      <p:sp>
        <p:nvSpPr>
          <p:cNvPr id="90" name="TextBox 89"/>
          <p:cNvSpPr txBox="1"/>
          <p:nvPr/>
        </p:nvSpPr>
        <p:spPr>
          <a:xfrm>
            <a:off x="9696450" y="2266950"/>
            <a:ext cx="2095500" cy="171450"/>
          </a:xfrm>
          <a:prstGeom prst="rect">
            <a:avLst/>
          </a:prstGeom>
          <a:noFill/>
        </p:spPr>
        <p:txBody>
          <a:bodyPr wrap="square" lIns="28575" tIns="9525" rIns="28575" bIns="9525" anchor="t">
            <a:spAutoFit/>
          </a:bodyPr>
          <a:lstStyle/>
          <a:p>
            <a:pPr algn="l"/>
            <a:r>
              <a:rPr sz="862" b="1">
                <a:solidFill>
                  <a:srgbClr val="333333"/>
                </a:solidFill>
                <a:latin typeface="Noto Sans JP"/>
              </a:rPr>
              <a:t>集計・出力</a:t>
            </a:r>
          </a:p>
        </p:txBody>
      </p:sp>
      <p:sp>
        <p:nvSpPr>
          <p:cNvPr id="91" name="TextBox 90"/>
          <p:cNvSpPr txBox="1"/>
          <p:nvPr/>
        </p:nvSpPr>
        <p:spPr>
          <a:xfrm>
            <a:off x="9696450" y="2438400"/>
            <a:ext cx="2095500" cy="552450"/>
          </a:xfrm>
          <a:prstGeom prst="rect">
            <a:avLst/>
          </a:prstGeom>
          <a:noFill/>
        </p:spPr>
        <p:txBody>
          <a:bodyPr wrap="square" lIns="28575" tIns="9525" rIns="28575" bIns="9525" anchor="t">
            <a:spAutoFit/>
          </a:bodyPr>
          <a:lstStyle/>
          <a:p>
            <a:pPr algn="l"/>
            <a:r>
              <a:rPr sz="750" b="0">
                <a:solidFill>
                  <a:srgbClr val="444444"/>
                </a:solidFill>
                <a:latin typeface="Noto Sans JP"/>
              </a:rPr>
              <a:t>登録された商談データから、顧客 DB・案件 DB の更新を行い、データの加工及び CSV の出力を実施する</a:t>
            </a:r>
          </a:p>
        </p:txBody>
      </p:sp>
      <p:sp>
        <p:nvSpPr>
          <p:cNvPr id="92" name="Oval 91"/>
          <p:cNvSpPr/>
          <p:nvPr/>
        </p:nvSpPr>
        <p:spPr>
          <a:xfrm>
            <a:off x="9429750" y="29527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6</a:t>
            </a:r>
          </a:p>
        </p:txBody>
      </p:sp>
      <p:sp>
        <p:nvSpPr>
          <p:cNvPr id="93" name="TextBox 92"/>
          <p:cNvSpPr txBox="1"/>
          <p:nvPr/>
        </p:nvSpPr>
        <p:spPr>
          <a:xfrm>
            <a:off x="9696450" y="2990850"/>
            <a:ext cx="2095500" cy="171450"/>
          </a:xfrm>
          <a:prstGeom prst="rect">
            <a:avLst/>
          </a:prstGeom>
          <a:noFill/>
        </p:spPr>
        <p:txBody>
          <a:bodyPr wrap="square" lIns="28575" tIns="9525" rIns="28575" bIns="9525" anchor="t">
            <a:spAutoFit/>
          </a:bodyPr>
          <a:lstStyle/>
          <a:p>
            <a:pPr algn="l"/>
            <a:r>
              <a:rPr sz="862" b="1">
                <a:solidFill>
                  <a:srgbClr val="333333"/>
                </a:solidFill>
                <a:latin typeface="Noto Sans JP"/>
              </a:rPr>
              <a:t>チェック用データ参照</a:t>
            </a:r>
          </a:p>
        </p:txBody>
      </p:sp>
      <p:sp>
        <p:nvSpPr>
          <p:cNvPr id="94" name="TextBox 93"/>
          <p:cNvSpPr txBox="1"/>
          <p:nvPr/>
        </p:nvSpPr>
        <p:spPr>
          <a:xfrm>
            <a:off x="9696450" y="3162300"/>
            <a:ext cx="2095500" cy="552450"/>
          </a:xfrm>
          <a:prstGeom prst="rect">
            <a:avLst/>
          </a:prstGeom>
          <a:noFill/>
        </p:spPr>
        <p:txBody>
          <a:bodyPr wrap="square" lIns="28575" tIns="9525" rIns="28575" bIns="9525" anchor="t">
            <a:spAutoFit/>
          </a:bodyPr>
          <a:lstStyle/>
          <a:p>
            <a:pPr algn="l"/>
            <a:r>
              <a:rPr sz="750" b="0">
                <a:solidFill>
                  <a:srgbClr val="444444"/>
                </a:solidFill>
                <a:latin typeface="Noto Sans JP"/>
              </a:rPr>
              <a:t>AI ツール群にて独自に構築したダッシュボードから各種 DB のチェックを実施する／本画面からチェック用提案書を作成することも可能</a:t>
            </a:r>
          </a:p>
        </p:txBody>
      </p:sp>
      <p:sp>
        <p:nvSpPr>
          <p:cNvPr id="95" name="Oval 94"/>
          <p:cNvSpPr/>
          <p:nvPr/>
        </p:nvSpPr>
        <p:spPr>
          <a:xfrm>
            <a:off x="9429750" y="36766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7</a:t>
            </a:r>
          </a:p>
        </p:txBody>
      </p:sp>
      <p:sp>
        <p:nvSpPr>
          <p:cNvPr id="96" name="TextBox 95"/>
          <p:cNvSpPr txBox="1"/>
          <p:nvPr/>
        </p:nvSpPr>
        <p:spPr>
          <a:xfrm>
            <a:off x="9696450" y="3714750"/>
            <a:ext cx="2095500" cy="171450"/>
          </a:xfrm>
          <a:prstGeom prst="rect">
            <a:avLst/>
          </a:prstGeom>
          <a:noFill/>
        </p:spPr>
        <p:txBody>
          <a:bodyPr wrap="square" lIns="28575" tIns="9525" rIns="28575" bIns="9525" anchor="t">
            <a:spAutoFit/>
          </a:bodyPr>
          <a:lstStyle/>
          <a:p>
            <a:pPr algn="l"/>
            <a:r>
              <a:rPr sz="862" b="1">
                <a:solidFill>
                  <a:srgbClr val="333333"/>
                </a:solidFill>
                <a:latin typeface="Noto Sans JP"/>
              </a:rPr>
              <a:t>チェック用帳票作成</a:t>
            </a:r>
          </a:p>
        </p:txBody>
      </p:sp>
      <p:sp>
        <p:nvSpPr>
          <p:cNvPr id="97" name="TextBox 96"/>
          <p:cNvSpPr txBox="1"/>
          <p:nvPr/>
        </p:nvSpPr>
        <p:spPr>
          <a:xfrm>
            <a:off x="9696450" y="3886200"/>
            <a:ext cx="2095500" cy="552450"/>
          </a:xfrm>
          <a:prstGeom prst="rect">
            <a:avLst/>
          </a:prstGeom>
          <a:noFill/>
        </p:spPr>
        <p:txBody>
          <a:bodyPr wrap="square" lIns="28575" tIns="9525" rIns="28575" bIns="9525" anchor="t">
            <a:spAutoFit/>
          </a:bodyPr>
          <a:lstStyle/>
          <a:p>
            <a:pPr algn="l"/>
            <a:r>
              <a:rPr sz="750" b="0">
                <a:solidFill>
                  <a:srgbClr val="444444"/>
                </a:solidFill>
                <a:latin typeface="Noto Sans JP"/>
              </a:rPr>
              <a:t>新クラウド AI 側にはチェック用に利用可能な帳票出力機能がないため、旧 SFA 側の帳票を利用してチェックを実施する</a:t>
            </a:r>
          </a:p>
        </p:txBody>
      </p:sp>
      <p:sp>
        <p:nvSpPr>
          <p:cNvPr id="98" name="Oval 97"/>
          <p:cNvSpPr/>
          <p:nvPr/>
        </p:nvSpPr>
        <p:spPr>
          <a:xfrm>
            <a:off x="9429750" y="44005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8</a:t>
            </a:r>
          </a:p>
        </p:txBody>
      </p:sp>
      <p:sp>
        <p:nvSpPr>
          <p:cNvPr id="99" name="TextBox 98"/>
          <p:cNvSpPr txBox="1"/>
          <p:nvPr/>
        </p:nvSpPr>
        <p:spPr>
          <a:xfrm>
            <a:off x="9696450" y="4438650"/>
            <a:ext cx="2095500" cy="171450"/>
          </a:xfrm>
          <a:prstGeom prst="rect">
            <a:avLst/>
          </a:prstGeom>
          <a:noFill/>
        </p:spPr>
        <p:txBody>
          <a:bodyPr wrap="square" lIns="28575" tIns="9525" rIns="28575" bIns="9525" anchor="t">
            <a:spAutoFit/>
          </a:bodyPr>
          <a:lstStyle/>
          <a:p>
            <a:pPr algn="l"/>
            <a:r>
              <a:rPr sz="862" b="1">
                <a:solidFill>
                  <a:srgbClr val="333333"/>
                </a:solidFill>
                <a:latin typeface="Noto Sans JP"/>
              </a:rPr>
              <a:t>提案書作成</a:t>
            </a:r>
          </a:p>
        </p:txBody>
      </p:sp>
      <p:sp>
        <p:nvSpPr>
          <p:cNvPr id="100" name="TextBox 99"/>
          <p:cNvSpPr txBox="1"/>
          <p:nvPr/>
        </p:nvSpPr>
        <p:spPr>
          <a:xfrm>
            <a:off x="9696450" y="4610100"/>
            <a:ext cx="2095500" cy="552450"/>
          </a:xfrm>
          <a:prstGeom prst="rect">
            <a:avLst/>
          </a:prstGeom>
          <a:noFill/>
        </p:spPr>
        <p:txBody>
          <a:bodyPr wrap="square" lIns="28575" tIns="9525" rIns="28575" bIns="9525" anchor="t">
            <a:spAutoFit/>
          </a:bodyPr>
          <a:lstStyle/>
          <a:p>
            <a:pPr algn="l"/>
            <a:r>
              <a:rPr sz="750" b="0">
                <a:solidFill>
                  <a:srgbClr val="444444"/>
                </a:solidFill>
                <a:latin typeface="Noto Sans JP"/>
              </a:rPr>
              <a:t>主に旧 SFA システムのマクロを利用して、最終成果物である提案書を作成する（※現行で出力しているのは 1 帳票のみ）</a:t>
            </a:r>
          </a:p>
        </p:txBody>
      </p:sp>
      <p:sp>
        <p:nvSpPr>
          <p:cNvPr id="101" name="Oval 100"/>
          <p:cNvSpPr/>
          <p:nvPr/>
        </p:nvSpPr>
        <p:spPr>
          <a:xfrm>
            <a:off x="9429750" y="51244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wrap="square" lIns="28575" tIns="9525" rIns="28575" bIns="9525" rtlCol="0" anchor="ctr"/>
          <a:lstStyle/>
          <a:p>
            <a:pPr algn="ctr"/>
            <a:r>
              <a:rPr sz="900" b="1">
                <a:solidFill>
                  <a:srgbClr val="FFFFFF"/>
                </a:solidFill>
                <a:latin typeface="Noto Sans JP"/>
              </a:rPr>
              <a:t>9</a:t>
            </a:r>
          </a:p>
        </p:txBody>
      </p:sp>
      <p:sp>
        <p:nvSpPr>
          <p:cNvPr id="102" name="TextBox 101"/>
          <p:cNvSpPr txBox="1"/>
          <p:nvPr/>
        </p:nvSpPr>
        <p:spPr>
          <a:xfrm>
            <a:off x="9696450" y="5162550"/>
            <a:ext cx="2095500" cy="171450"/>
          </a:xfrm>
          <a:prstGeom prst="rect">
            <a:avLst/>
          </a:prstGeom>
          <a:noFill/>
        </p:spPr>
        <p:txBody>
          <a:bodyPr wrap="square" lIns="28575" tIns="9525" rIns="28575" bIns="9525" anchor="t">
            <a:spAutoFit/>
          </a:bodyPr>
          <a:lstStyle/>
          <a:p>
            <a:pPr algn="l"/>
            <a:r>
              <a:rPr sz="862" b="1">
                <a:solidFill>
                  <a:srgbClr val="333333"/>
                </a:solidFill>
                <a:latin typeface="Noto Sans JP"/>
              </a:rPr>
              <a:t>提示</a:t>
            </a:r>
          </a:p>
        </p:txBody>
      </p:sp>
      <p:sp>
        <p:nvSpPr>
          <p:cNvPr id="103" name="TextBox 102"/>
          <p:cNvSpPr txBox="1"/>
          <p:nvPr/>
        </p:nvSpPr>
        <p:spPr>
          <a:xfrm>
            <a:off x="9696450" y="5334000"/>
            <a:ext cx="2095500" cy="552450"/>
          </a:xfrm>
          <a:prstGeom prst="rect">
            <a:avLst/>
          </a:prstGeom>
          <a:noFill/>
        </p:spPr>
        <p:txBody>
          <a:bodyPr wrap="square" lIns="28575" tIns="9525" rIns="28575" bIns="9525" anchor="t">
            <a:spAutoFit/>
          </a:bodyPr>
          <a:lstStyle/>
          <a:p>
            <a:pPr algn="l"/>
            <a:r>
              <a:rPr sz="750" b="0">
                <a:solidFill>
                  <a:srgbClr val="444444"/>
                </a:solidFill>
                <a:latin typeface="Noto Sans JP"/>
              </a:rPr>
              <a:t>提案書一式を AI ツール群から営業担当に引き渡し、営業担当がクライアント面談で提示する</a:t>
            </a:r>
          </a:p>
        </p:txBody>
      </p:sp>
      <p:sp>
        <p:nvSpPr>
          <p:cNvPr id="104" name="Rectangle 103"/>
          <p:cNvSpPr/>
          <p:nvPr/>
        </p:nvSpPr>
        <p:spPr>
          <a:xfrm>
            <a:off x="476250" y="5924550"/>
            <a:ext cx="8763000" cy="3429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476250" y="5924550"/>
            <a:ext cx="47625" cy="342900"/>
          </a:xfrm>
          <a:prstGeom prst="rect">
            <a:avLst/>
          </a:pr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609600" y="5981700"/>
            <a:ext cx="1238250" cy="228600"/>
          </a:xfrm>
          <a:prstGeom prst="rect">
            <a:avLst/>
          </a:prstGeom>
          <a:noFill/>
        </p:spPr>
        <p:txBody>
          <a:bodyPr wrap="square" lIns="28575" tIns="9525" rIns="28575" bIns="9525" anchor="ctr">
            <a:spAutoFit/>
          </a:bodyPr>
          <a:lstStyle/>
          <a:p>
            <a:pPr algn="l"/>
            <a:r>
              <a:rPr sz="862" b="1">
                <a:solidFill>
                  <a:srgbClr val="1A2B4A"/>
                </a:solidFill>
                <a:latin typeface="Noto Sans JP"/>
              </a:rPr>
              <a:t>KEY TAKEAWAY:</a:t>
            </a:r>
          </a:p>
        </p:txBody>
      </p:sp>
      <p:sp>
        <p:nvSpPr>
          <p:cNvPr id="107" name="TextBox 106"/>
          <p:cNvSpPr txBox="1"/>
          <p:nvPr/>
        </p:nvSpPr>
        <p:spPr>
          <a:xfrm>
            <a:off x="1847850" y="5981700"/>
            <a:ext cx="7296150" cy="228600"/>
          </a:xfrm>
          <a:prstGeom prst="rect">
            <a:avLst/>
          </a:prstGeom>
          <a:noFill/>
        </p:spPr>
        <p:txBody>
          <a:bodyPr wrap="square" lIns="28575" tIns="9525" rIns="28575" bIns="9525" anchor="ctr">
            <a:spAutoFit/>
          </a:bodyPr>
          <a:lstStyle/>
          <a:p>
            <a:pPr algn="l"/>
            <a:r>
              <a:rPr sz="862" b="0">
                <a:solidFill>
                  <a:srgbClr val="333333"/>
                </a:solidFill>
                <a:latin typeface="Noto Sans JP"/>
              </a:rPr>
              <a:t>要するに、旧 SFA システムと新クラウド AI システムが並行稼働し、最終提案書作成は旧 SFA のマクロに依存している現状である。</a:t>
            </a:r>
          </a:p>
        </p:txBody>
      </p:sp>
      <p:sp>
        <p:nvSpPr>
          <p:cNvPr id="108" name="TextBox 107"/>
          <p:cNvSpPr txBox="1"/>
          <p:nvPr/>
        </p:nvSpPr>
        <p:spPr>
          <a:xfrm>
            <a:off x="419100" y="6457950"/>
            <a:ext cx="7620000" cy="247650"/>
          </a:xfrm>
          <a:prstGeom prst="rect">
            <a:avLst/>
          </a:prstGeom>
          <a:noFill/>
        </p:spPr>
        <p:txBody>
          <a:bodyPr wrap="square" lIns="28575" tIns="9525" rIns="28575" bIns="9525" anchor="t">
            <a:spAutoFit/>
          </a:bodyPr>
          <a:lstStyle/>
          <a:p>
            <a:pPr algn="l"/>
            <a:r>
              <a:rPr sz="712" b="0">
                <a:solidFill>
                  <a:srgbClr val="777777"/>
                </a:solidFill>
                <a:latin typeface="Noto Sans JP"/>
              </a:rPr>
              <a:t>2.1. 業務に係る現状整理 ／ 2.1.3. AI 提案書作成ワークフローの現状 〜 提示まで</a:t>
            </a:r>
          </a:p>
          <a:p>
            <a:pPr algn="l"/>
            <a:r>
              <a:rPr sz="712" b="0">
                <a:solidFill>
                  <a:srgbClr val="777777"/>
                </a:solidFill>
                <a:latin typeface="Noto Sans JP"/>
              </a:rPr>
              <a:t>出典：画像提供元情報をもとに作成</a:t>
            </a:r>
          </a:p>
        </p:txBody>
      </p:sp>
      <p:sp>
        <p:nvSpPr>
          <p:cNvPr id="109" name="TextBox 108"/>
          <p:cNvSpPr txBox="1"/>
          <p:nvPr/>
        </p:nvSpPr>
        <p:spPr>
          <a:xfrm>
            <a:off x="11239500" y="6534150"/>
            <a:ext cx="571500" cy="171450"/>
          </a:xfrm>
          <a:prstGeom prst="rect">
            <a:avLst/>
          </a:prstGeom>
          <a:noFill/>
        </p:spPr>
        <p:txBody>
          <a:bodyPr wrap="square" lIns="28575" tIns="9525" rIns="28575" bIns="9525" anchor="t">
            <a:spAutoFit/>
          </a:bodyPr>
          <a:lstStyle/>
          <a:p>
            <a:pPr algn="r"/>
            <a:r>
              <a:rPr sz="825" b="1">
                <a:solidFill>
                  <a:srgbClr val="1A2B4A"/>
                </a:solidFill>
                <a:latin typeface="Noto Sans JP"/>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310</Words>
  <Application>Microsoft Macintosh PowerPoint</Application>
  <PresentationFormat>ワイド画面</PresentationFormat>
  <Paragraphs>100</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Noto Sans JP</vt:lpstr>
      <vt:lpstr>Arial</vt:lpstr>
      <vt:lpstr>Calibri</vt:lpstr>
      <vt:lpstr>Office Theme</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バイテック生成AI</cp:lastModifiedBy>
  <cp:revision>1</cp:revision>
  <dcterms:created xsi:type="dcterms:W3CDTF">2013-01-27T09:14:16Z</dcterms:created>
  <dcterms:modified xsi:type="dcterms:W3CDTF">2026-05-11T01:09:16Z</dcterms:modified>
  <cp:category/>
</cp:coreProperties>
</file>