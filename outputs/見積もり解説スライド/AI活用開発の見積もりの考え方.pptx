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83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6271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2238">
              <a:alpha val="3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1371600" y="10972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AI活用開発の見積もりの考え方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371600" y="2468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納得感のある費用設計のために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2026年5月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AI活用開発 見積もりの考え方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4114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本日お話しすること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960120"/>
          </a:xfrm>
          <a:prstGeom prst="rect">
            <a:avLst/>
          </a:prstGeom>
          <a:solidFill>
            <a:srgbClr val="EBF0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005840" y="146304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13716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前提の変化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1783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AI開発で見積もりの何が変わったのか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7680960" cy="960120"/>
          </a:xfrm>
          <a:prstGeom prst="rect">
            <a:avLst/>
          </a:prstGeom>
          <a:solidFill>
            <a:srgbClr val="EBF0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1005840" y="265176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100584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28800" y="25603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見積もりの考え方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0" y="29718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工数の捉え方とフェーズ分解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7680960" cy="960120"/>
          </a:xfrm>
          <a:prstGeom prst="rect">
            <a:avLst/>
          </a:prstGeom>
          <a:solidFill>
            <a:srgbClr val="EBF0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1005840" y="384048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100584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28800" y="37490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透明性のための工夫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28800" y="41605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リスクと費用を事前に共有する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AI活用開発 見積もりの考え方 |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2402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371600" y="28803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206240" y="1371600"/>
            <a:ext cx="3200400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206240" y="1371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0" y="19202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前提の変化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4114800" y="2926080"/>
            <a:ext cx="54864" cy="8229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389120" y="29260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AI開発で見積もりの何が変わったのか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AIが「コードを書く時間」を肩代わりした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914400"/>
            <a:ext cx="137160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前提の変化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132320" y="822960"/>
            <a:ext cx="1188720" cy="1188720"/>
          </a:xfrm>
          <a:prstGeom prst="ellipse">
            <a:avLst/>
          </a:prstGeom>
          <a:solidFill>
            <a:srgbClr val="EBF0FA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097280"/>
            <a:ext cx="64008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463040"/>
            <a:ext cx="6126480" cy="2377440"/>
          </a:xfrm>
          <a:prstGeom prst="rect">
            <a:avLst/>
          </a:prstGeom>
          <a:solidFill>
            <a:srgbClr val="EBF0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6"/>
          <p:cNvSpPr/>
          <p:nvPr/>
        </p:nvSpPr>
        <p:spPr>
          <a:xfrm>
            <a:off x="685800" y="1463040"/>
            <a:ext cx="54864" cy="23774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1005840" y="160020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従来の見積もりは、コードを書く時間が工数の6〜7割を占めていた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AIがコーディングを担うことで、その時間はほぼゼロに近づいた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一方で設計・検証・環境設定の重要性は、むしろ高まっている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人が担うのは「正しく動かすための判断と確認」へとシフトした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409651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エンジニアの価値は実装量ではなく、判断・検証・設計の質へ移行している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397764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AI活用開発 見積もりの考え方 |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2402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371600" y="28803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206240" y="1371600"/>
            <a:ext cx="3200400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206240" y="1371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0" y="19202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見積もりの考え方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4114800" y="2926080"/>
            <a:ext cx="54864" cy="8229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389120" y="29260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工数の捉え方とフェーズ分解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人が担う作業は「設定・確認・判断」の3つ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914400"/>
            <a:ext cx="1975104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見積もりの考え方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132320" y="822960"/>
            <a:ext cx="1188720" cy="1188720"/>
          </a:xfrm>
          <a:prstGeom prst="ellipse">
            <a:avLst/>
          </a:prstGeom>
          <a:solidFill>
            <a:srgbClr val="EBF0FA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097280"/>
            <a:ext cx="64008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463040"/>
            <a:ext cx="6126480" cy="2377440"/>
          </a:xfrm>
          <a:prstGeom prst="rect">
            <a:avLst/>
          </a:prstGeom>
          <a:solidFill>
            <a:srgbClr val="EBF0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6"/>
          <p:cNvSpPr/>
          <p:nvPr/>
        </p:nvSpPr>
        <p:spPr>
          <a:xfrm>
            <a:off x="685800" y="1463040"/>
            <a:ext cx="54864" cy="23774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1005840" y="160020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設定作業：管理画面の操作・環境変数・デプロイ設定など、AIでは代替できない領域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確認作業：AIが書いたコードを実際に動かし、正しく動くかを検証する作業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判断作業：設計の選択・仕様のトレードオフ・AIへの指示内容の決定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見積もりは、この3つの作業に要する人の時間を積み上げて算出する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4023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見積もり額は「コードの量」ではなく、人の判断・確認・設定の工数で決まる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397764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AI活用開発 見積もりの考え方 |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見積もりの構成：工数 × 単価 ＋ バッファ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914400"/>
            <a:ext cx="1975104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見積もりの考え方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132320" y="822960"/>
            <a:ext cx="1188720" cy="1188720"/>
          </a:xfrm>
          <a:prstGeom prst="ellipse">
            <a:avLst/>
          </a:prstGeom>
          <a:solidFill>
            <a:srgbClr val="EBF0FA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097280"/>
            <a:ext cx="64008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463040"/>
            <a:ext cx="6126480" cy="2377440"/>
          </a:xfrm>
          <a:prstGeom prst="rect">
            <a:avLst/>
          </a:prstGeom>
          <a:solidFill>
            <a:srgbClr val="EBF0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6"/>
          <p:cNvSpPr/>
          <p:nvPr/>
        </p:nvSpPr>
        <p:spPr>
          <a:xfrm>
            <a:off x="685800" y="1463040"/>
            <a:ext cx="54864" cy="23774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1005840" y="160020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開発費小計 ＝ 人の工数（時間）× 単価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そこに、案件の不確実性に応じたバッファを加算する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最後に消費税を加えて、税込合計をご提示する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インフラ費用（後述）は開発費とは別枠として明示する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246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「コードを書く費用」ではなく「正しく動かす費用」として構成している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397764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AI活用開発 見積もりの考え方 |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工数はフェーズに分解して根拠を示す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914400"/>
            <a:ext cx="1975104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見積もりの考え方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132320" y="822960"/>
            <a:ext cx="1188720" cy="1188720"/>
          </a:xfrm>
          <a:prstGeom prst="ellipse">
            <a:avLst/>
          </a:prstGeom>
          <a:solidFill>
            <a:srgbClr val="EBF0FA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097280"/>
            <a:ext cx="64008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463040"/>
            <a:ext cx="6126480" cy="2377440"/>
          </a:xfrm>
          <a:prstGeom prst="rect">
            <a:avLst/>
          </a:prstGeom>
          <a:solidFill>
            <a:srgbClr val="EBF0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6"/>
          <p:cNvSpPr/>
          <p:nvPr/>
        </p:nvSpPr>
        <p:spPr>
          <a:xfrm>
            <a:off x="685800" y="1463040"/>
            <a:ext cx="54864" cy="23774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1005840" y="160020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フェーズ1 基盤構築・疎通確認：認証やDBの基本接続を動かす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フェーズ2 DB構築・アクセス制御：テーブル作成・権限設定・型生成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フェーズ3 機能動作確認：各機能をブラウザで操作して検証（機能数に比例）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フェーズ4 デプロイ・最終確認：本番環境での通し確認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40005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フェーズ × 作業項目に分解することで、工数の根拠を明確に説明できる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397764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AI活用開発 見積もりの考え方 |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 バッファは「不確定要素」を根拠に設定する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914400"/>
            <a:ext cx="1975104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見積もりの考え方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132320" y="822960"/>
            <a:ext cx="1188720" cy="1188720"/>
          </a:xfrm>
          <a:prstGeom prst="ellipse">
            <a:avLst/>
          </a:prstGeom>
          <a:solidFill>
            <a:srgbClr val="EBF0FA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097280"/>
            <a:ext cx="64008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463040"/>
            <a:ext cx="6126480" cy="2377440"/>
          </a:xfrm>
          <a:prstGeom prst="rect">
            <a:avLst/>
          </a:prstGeom>
          <a:solidFill>
            <a:srgbClr val="EBF0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6"/>
          <p:cNvSpPr/>
          <p:nvPr/>
        </p:nvSpPr>
        <p:spPr>
          <a:xfrm>
            <a:off x="685800" y="1463040"/>
            <a:ext cx="54864" cy="23774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1005840" y="160020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初めて使う技術やPoC案件は、想定外が起きやすいためバッファを厚めに設定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経験のある構成の横展開は、ハマりどころが読めるため薄めに設定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リスクが低い案件は、バッファを最小限に抑える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「なんとなく◯%」ではなく、不確定要素を具体的に挙げて根拠とする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977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バッファ率は案件の性質ごとに、理由を説明できる形で決めている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397764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AI活用開発 見積もりの考え方 |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2402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371600" y="28803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206240" y="1371600"/>
            <a:ext cx="3200400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206240" y="1371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0" y="19202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透明性のための工夫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4114800" y="2926080"/>
            <a:ext cx="54864" cy="8229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389120" y="29260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リスクと費用を事前に共有する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6. 詰まりやすいポイントを事前に共有する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914400"/>
            <a:ext cx="2176272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透明性のための工夫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132320" y="822960"/>
            <a:ext cx="1188720" cy="1188720"/>
          </a:xfrm>
          <a:prstGeom prst="ellipse">
            <a:avLst/>
          </a:prstGeom>
          <a:solidFill>
            <a:srgbClr val="EBF0FA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097280"/>
            <a:ext cx="64008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463040"/>
            <a:ext cx="6126480" cy="2377440"/>
          </a:xfrm>
          <a:prstGeom prst="rect">
            <a:avLst/>
          </a:prstGeom>
          <a:solidFill>
            <a:srgbClr val="EBF0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6"/>
          <p:cNvSpPr/>
          <p:nvPr/>
        </p:nvSpPr>
        <p:spPr>
          <a:xfrm>
            <a:off x="685800" y="1463040"/>
            <a:ext cx="54864" cy="23774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1005840" y="160020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データのアクセス制御：権限の不備は重大な不具合につながるため入念に検証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クラウド実行環境の制限：処理時間の上限などは早期に実測して方針を決める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本番環境とローカル環境の差異：デプロイ後にしか出ない不具合に備える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外部APIの認証・ドメイン制限：本番公開後に確認する工数を見積もりに含める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40050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リスクを事前に見える化し、バッファや追加費用の根拠として共有する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397764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AI活用開発 見積もりの考え方 |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7. インフラ費用は開発費と分けて明示する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914400"/>
            <a:ext cx="2176272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透明性のための工夫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132320" y="822960"/>
            <a:ext cx="1188720" cy="1188720"/>
          </a:xfrm>
          <a:prstGeom prst="ellipse">
            <a:avLst/>
          </a:prstGeom>
          <a:solidFill>
            <a:srgbClr val="EBF0FA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097280"/>
            <a:ext cx="64008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463040"/>
            <a:ext cx="6126480" cy="2377440"/>
          </a:xfrm>
          <a:prstGeom prst="rect">
            <a:avLst/>
          </a:prstGeom>
          <a:solidFill>
            <a:srgbClr val="EBF0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6"/>
          <p:cNvSpPr/>
          <p:nvPr/>
        </p:nvSpPr>
        <p:spPr>
          <a:xfrm>
            <a:off x="685800" y="1463040"/>
            <a:ext cx="54864" cy="23774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1005840" y="160020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データベース・ホスティング・各種APIには月額費用が発生する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これらは開発費とは別枠とし、見積もり段階で明示する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月額コストが後から発覚すると信頼を損なうため、必ず事前に共有する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多くの場合、初期は無料プランで開始でき、規模拡大に応じて移行できる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4023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ランニングコストを開発費と分けて示し、総額の見通しを明確にする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AI活用開発 見積もりの考え方 |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2286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見積もりの3原則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868680"/>
          </a:xfrm>
          <a:prstGeom prst="rect">
            <a:avLst/>
          </a:prstGeom>
          <a:solidFill>
            <a:srgbClr val="EBF0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54864" cy="8686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051560" y="134416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051560" y="1344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12344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コーディング時間は計上しない: 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66160" y="12344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AIが書く前提。人の時間は設定・確認・判断に集中させる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2240280"/>
            <a:ext cx="7680960" cy="868680"/>
          </a:xfrm>
          <a:prstGeom prst="rect">
            <a:avLst/>
          </a:prstGeom>
          <a:solidFill>
            <a:srgbClr val="EBF0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731520" y="2240280"/>
            <a:ext cx="54864" cy="8686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1051560" y="239572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1051560" y="2395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28800" y="22860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リスクを事前に共有する: 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22860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詰まりやすい点を挙げ、バッファや追加費用の根拠を明確にする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291840"/>
            <a:ext cx="7680960" cy="868680"/>
          </a:xfrm>
          <a:prstGeom prst="rect">
            <a:avLst/>
          </a:prstGeom>
          <a:solidFill>
            <a:srgbClr val="EBF0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731520" y="3291840"/>
            <a:ext cx="54864" cy="8686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1051560" y="344728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1051560" y="3447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28800" y="33375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インフラ費用を分けて明示する: 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66160" y="33375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月額のランニングコストを開発費と区別し、総額の見通しを示す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AI開発の費用は「正しく動かす専門性」への対価である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AI活用開発 見積もりの考え方 | 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428</Words>
  <Application>Microsoft Macintosh PowerPoint</Application>
  <PresentationFormat>画面に合わせる (16:9)</PresentationFormat>
  <Paragraphs>111</Paragraphs>
  <Slides>13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6" baseType="lpstr"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AI活用開発の見積もりの考え方</dc:title>
  <dc:subject>PptxGenJS Presentation</dc:subject>
  <dc:creator>shogoworks</dc:creator>
  <cp:lastModifiedBy>バイテック生成AI</cp:lastModifiedBy>
  <cp:revision>2</cp:revision>
  <dcterms:created xsi:type="dcterms:W3CDTF">2026-05-22T12:50:26Z</dcterms:created>
  <dcterms:modified xsi:type="dcterms:W3CDTF">2026-05-23T00:00:14Z</dcterms:modified>
</cp:coreProperties>
</file>