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9100" y="247650"/>
            <a:ext cx="7620000" cy="3048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1500" b="1">
                <a:solidFill>
                  <a:srgbClr val="1A2B4A"/>
                </a:solidFill>
                <a:latin typeface="Noto Sans JP"/>
                <a:ea typeface="Noto Sans JP"/>
              </a:rPr>
              <a:t>1-3  AI 提案書作成ワークフローの現状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419100" y="571500"/>
            <a:ext cx="11239500" cy="14287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685800"/>
            <a:ext cx="11239500" cy="5334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787" b="0">
                <a:solidFill>
                  <a:srgbClr val="333333"/>
                </a:solidFill>
                <a:latin typeface="Noto Sans JP"/>
                <a:ea typeface="Noto Sans JP"/>
              </a:rPr>
              <a:t>■ 本ワークフローは、以下の 4Step で構成される。Step1 では「商談データの確認」、Step2 では「商談データの分析」を行い、Step3 では「提案戦略の検討」を実施する。</a:t>
            </a:r>
          </a:p>
          <a:p>
            <a:pPr algn="l"/>
            <a:r>
              <a:rPr sz="787" b="0">
                <a:solidFill>
                  <a:srgbClr val="333333"/>
                </a:solidFill>
                <a:latin typeface="Noto Sans JP"/>
                <a:ea typeface="Noto Sans JP"/>
              </a:rPr>
              <a:t>    具体的には、Step1 は SFA から取得した商談データの正規化と整合性確認に集中する。Step2 は AI による顧客属性・案件履歴分析と、営業担当によるヒアリング整理を並行で進める。Step3 は AI が候補生成・営業が戦略選定を担い、最後に Step4 で本提案書を作成・提示する。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257300"/>
            <a:ext cx="1524000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750" b="1">
                <a:solidFill>
                  <a:srgbClr val="1A2B4A"/>
                </a:solidFill>
                <a:latin typeface="Noto Sans JP"/>
                <a:ea typeface="Noto Sans JP"/>
              </a:rPr>
              <a:t>本報告書の章番号と対応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1504950"/>
            <a:ext cx="857250" cy="419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52550" y="1504950"/>
            <a:ext cx="2009775" cy="4191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1543050"/>
            <a:ext cx="2009775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900" b="1">
                <a:solidFill>
                  <a:srgbClr val="1A2B4A"/>
                </a:solidFill>
                <a:latin typeface="Noto Sans JP"/>
                <a:ea typeface="Noto Sans JP"/>
              </a:rPr>
              <a:t>Step1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2550" y="1714500"/>
            <a:ext cx="2009775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787" b="0">
                <a:solidFill>
                  <a:srgbClr val="333333"/>
                </a:solidFill>
                <a:latin typeface="Noto Sans JP"/>
                <a:ea typeface="Noto Sans JP"/>
              </a:rPr>
              <a:t>商談データの確認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0425" y="1504950"/>
            <a:ext cx="2009775" cy="4191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0425" y="1543050"/>
            <a:ext cx="2009775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900" b="1">
                <a:solidFill>
                  <a:srgbClr val="1A2B4A"/>
                </a:solidFill>
                <a:latin typeface="Noto Sans JP"/>
                <a:ea typeface="Noto Sans JP"/>
              </a:rPr>
              <a:t>Step2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25" y="1714500"/>
            <a:ext cx="2009775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787" b="0">
                <a:solidFill>
                  <a:srgbClr val="333333"/>
                </a:solidFill>
                <a:latin typeface="Noto Sans JP"/>
                <a:ea typeface="Noto Sans JP"/>
              </a:rPr>
              <a:t>商談データの分析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8300" y="1504950"/>
            <a:ext cx="2009775" cy="4191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8300" y="1543050"/>
            <a:ext cx="2009775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900" b="1">
                <a:solidFill>
                  <a:srgbClr val="1A2B4A"/>
                </a:solidFill>
                <a:latin typeface="Noto Sans JP"/>
                <a:ea typeface="Noto Sans JP"/>
              </a:rPr>
              <a:t>Step3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8300" y="1714500"/>
            <a:ext cx="2009775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787" b="0">
                <a:solidFill>
                  <a:srgbClr val="333333"/>
                </a:solidFill>
                <a:latin typeface="Noto Sans JP"/>
                <a:ea typeface="Noto Sans JP"/>
              </a:rPr>
              <a:t>提案戦略の検討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6175" y="1504950"/>
            <a:ext cx="2009775" cy="4191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6175" y="1543050"/>
            <a:ext cx="2009775" cy="1714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900" b="1">
                <a:solidFill>
                  <a:srgbClr val="1A2B4A"/>
                </a:solidFill>
                <a:latin typeface="Noto Sans JP"/>
                <a:ea typeface="Noto Sans JP"/>
              </a:rPr>
              <a:t>Step4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6175" y="1714500"/>
            <a:ext cx="2009775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787" b="0">
                <a:solidFill>
                  <a:srgbClr val="333333"/>
                </a:solidFill>
                <a:latin typeface="Noto Sans JP"/>
                <a:ea typeface="Noto Sans JP"/>
              </a:rPr>
              <a:t>提案書の作成・提示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504950"/>
            <a:ext cx="1905000" cy="419100"/>
          </a:xfrm>
          <a:prstGeom prst="rect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1504950"/>
            <a:ext cx="1905000" cy="4191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825" b="1">
                <a:solidFill>
                  <a:srgbClr val="FFFFFF"/>
                </a:solidFill>
                <a:latin typeface="Noto Sans JP"/>
                <a:ea typeface="Noto Sans JP"/>
              </a:rPr>
              <a:t>Step4</a:t>
            </a:r>
          </a:p>
          <a:p>
            <a:pPr algn="ctr"/>
            <a:r>
              <a:rPr sz="825" b="1">
                <a:solidFill>
                  <a:srgbClr val="FFFFFF"/>
                </a:solidFill>
                <a:latin typeface="Noto Sans JP"/>
                <a:ea typeface="Noto Sans JP"/>
              </a:rPr>
              <a:t>報告書の作成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6250" y="1981200"/>
            <a:ext cx="857250" cy="20002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250" y="1981200"/>
            <a:ext cx="857250" cy="2000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862" b="1">
                <a:solidFill>
                  <a:srgbClr val="1A2B4A"/>
                </a:solidFill>
                <a:latin typeface="Noto Sans JP"/>
                <a:ea typeface="Noto Sans JP"/>
              </a:rPr>
              <a:t>AI ツール</a:t>
            </a:r>
          </a:p>
          <a:p>
            <a:pPr algn="ctr"/>
            <a:r>
              <a:rPr sz="862" b="1">
                <a:solidFill>
                  <a:srgbClr val="1A2B4A"/>
                </a:solidFill>
                <a:latin typeface="Noto Sans JP"/>
                <a:ea typeface="Noto Sans JP"/>
              </a:rPr>
              <a:t>担当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6250" y="4057650"/>
            <a:ext cx="857250" cy="200025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250" y="4057650"/>
            <a:ext cx="857250" cy="200025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862" b="1">
                <a:solidFill>
                  <a:srgbClr val="1A2B4A"/>
                </a:solidFill>
                <a:latin typeface="Noto Sans JP"/>
                <a:ea typeface="Noto Sans JP"/>
              </a:rPr>
              <a:t>人手</a:t>
            </a:r>
          </a:p>
          <a:p>
            <a:pPr algn="ctr"/>
            <a:r>
              <a:rPr sz="862" b="1">
                <a:solidFill>
                  <a:srgbClr val="1A2B4A"/>
                </a:solidFill>
                <a:latin typeface="Noto Sans JP"/>
                <a:ea typeface="Noto Sans JP"/>
              </a:rPr>
              <a:t>担当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04950" y="2266950"/>
            <a:ext cx="1704975" cy="85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商談データの自動取込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・正規化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4950" y="3124200"/>
            <a:ext cx="1704975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SFA から CSV を自動取得し、</a:t>
            </a:r>
          </a:p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顧客名寄せ・案件 ID 正規化を実施</a:t>
            </a:r>
          </a:p>
        </p:txBody>
      </p:sp>
      <p:sp>
        <p:nvSpPr>
          <p:cNvPr id="27" name="Oval 26"/>
          <p:cNvSpPr/>
          <p:nvPr/>
        </p:nvSpPr>
        <p:spPr>
          <a:xfrm>
            <a:off x="1495425" y="225742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2825" y="2209800"/>
            <a:ext cx="1704975" cy="666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顧客属性・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案件履歴の分析</a:t>
            </a:r>
          </a:p>
        </p:txBody>
      </p:sp>
      <p:sp>
        <p:nvSpPr>
          <p:cNvPr id="29" name="Oval 28"/>
          <p:cNvSpPr/>
          <p:nvPr/>
        </p:nvSpPr>
        <p:spPr>
          <a:xfrm>
            <a:off x="3543300" y="220027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2825" y="2990850"/>
            <a:ext cx="1704975" cy="666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類似案件の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レコメンド生成</a:t>
            </a:r>
          </a:p>
        </p:txBody>
      </p:sp>
      <p:sp>
        <p:nvSpPr>
          <p:cNvPr id="31" name="Oval 30"/>
          <p:cNvSpPr/>
          <p:nvPr/>
        </p:nvSpPr>
        <p:spPr>
          <a:xfrm>
            <a:off x="3543300" y="298132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2825" y="3714750"/>
            <a:ext cx="1704975" cy="3810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AI が過去案件 DB を参照し</a:t>
            </a:r>
          </a:p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候補リストを自動生成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00700" y="2266950"/>
            <a:ext cx="1704975" cy="85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提案ロジック候補の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自動生成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700" y="3124200"/>
            <a:ext cx="1704975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勝ちパターン DB から</a:t>
            </a:r>
          </a:p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テンプレ＋論点候補を抽出</a:t>
            </a:r>
          </a:p>
        </p:txBody>
      </p:sp>
      <p:sp>
        <p:nvSpPr>
          <p:cNvPr id="35" name="Oval 34"/>
          <p:cNvSpPr/>
          <p:nvPr/>
        </p:nvSpPr>
        <p:spPr>
          <a:xfrm>
            <a:off x="5591175" y="225742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48575" y="2266950"/>
            <a:ext cx="1704975" cy="85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提案書ドラフトの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自動生成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48575" y="3124200"/>
            <a:ext cx="1704975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マクロ + テンプレで</a:t>
            </a:r>
          </a:p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提案書一式（73 件 / 月）を出力</a:t>
            </a:r>
          </a:p>
        </p:txBody>
      </p:sp>
      <p:sp>
        <p:nvSpPr>
          <p:cNvPr id="38" name="Oval 37"/>
          <p:cNvSpPr/>
          <p:nvPr/>
        </p:nvSpPr>
        <p:spPr>
          <a:xfrm>
            <a:off x="7639050" y="225742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8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3209925" y="2533650"/>
            <a:ext cx="342900" cy="161925"/>
          </a:xfrm>
          <a:prstGeom prst="line">
            <a:avLst/>
          </a:prstGeom>
          <a:ln w="9525">
            <a:solidFill>
              <a:srgbClr val="4444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257800" y="2695575"/>
            <a:ext cx="342900" cy="619125"/>
          </a:xfrm>
          <a:prstGeom prst="line">
            <a:avLst/>
          </a:prstGeom>
          <a:ln w="9525">
            <a:solidFill>
              <a:srgbClr val="4444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305675" y="2695575"/>
            <a:ext cx="342900" cy="0"/>
          </a:xfrm>
          <a:prstGeom prst="line">
            <a:avLst/>
          </a:prstGeom>
          <a:ln w="9525">
            <a:solidFill>
              <a:srgbClr val="4444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504950" y="4676775"/>
            <a:ext cx="1704975" cy="1905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ctr"/>
            <a:r>
              <a:rPr sz="750" b="0">
                <a:solidFill>
                  <a:srgbClr val="777777"/>
                </a:solidFill>
                <a:latin typeface="Noto Sans JP"/>
                <a:ea typeface="Noto Sans JP"/>
              </a:rPr>
              <a:t>（AI 側から受領）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52825" y="4343400"/>
            <a:ext cx="1704975" cy="85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顧客 KPI ／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提案要件のヒアリング整理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52825" y="5200650"/>
            <a:ext cx="1704975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営業担当が一次商談で</a:t>
            </a:r>
          </a:p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顧客の意思決定軸を整理</a:t>
            </a:r>
          </a:p>
        </p:txBody>
      </p:sp>
      <p:sp>
        <p:nvSpPr>
          <p:cNvPr id="45" name="Oval 44"/>
          <p:cNvSpPr/>
          <p:nvPr/>
        </p:nvSpPr>
        <p:spPr>
          <a:xfrm>
            <a:off x="3543300" y="433387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00700" y="4343400"/>
            <a:ext cx="1704975" cy="85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戦略選定・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差別化ポイント整理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00700" y="5200650"/>
            <a:ext cx="1704975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AI 候補から営業が選定し</a:t>
            </a:r>
          </a:p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顧客固有の差別化を加筆</a:t>
            </a:r>
          </a:p>
        </p:txBody>
      </p:sp>
      <p:sp>
        <p:nvSpPr>
          <p:cNvPr id="48" name="Oval 47"/>
          <p:cNvSpPr/>
          <p:nvPr/>
        </p:nvSpPr>
        <p:spPr>
          <a:xfrm>
            <a:off x="5591175" y="433387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48575" y="4343400"/>
            <a:ext cx="1704975" cy="8572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最終レビュー・</a:t>
            </a:r>
          </a:p>
          <a:p>
            <a:pPr algn="ctr"/>
            <a:r>
              <a:rPr sz="825" b="1">
                <a:solidFill>
                  <a:srgbClr val="1A2B4A"/>
                </a:solidFill>
                <a:latin typeface="Noto Sans JP"/>
                <a:ea typeface="Noto Sans JP"/>
              </a:rPr>
              <a:t>クライアント提示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48575" y="5200650"/>
            <a:ext cx="1704975" cy="57150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提案書一式を確認のうえ</a:t>
            </a:r>
          </a:p>
          <a:p>
            <a:pPr algn="ctr"/>
            <a:r>
              <a:rPr sz="712" b="0">
                <a:solidFill>
                  <a:srgbClr val="444444"/>
                </a:solidFill>
                <a:latin typeface="Noto Sans JP"/>
                <a:ea typeface="Noto Sans JP"/>
              </a:rPr>
              <a:t>クライアント商談で提示</a:t>
            </a:r>
          </a:p>
        </p:txBody>
      </p:sp>
      <p:sp>
        <p:nvSpPr>
          <p:cNvPr id="51" name="Oval 50"/>
          <p:cNvSpPr/>
          <p:nvPr/>
        </p:nvSpPr>
        <p:spPr>
          <a:xfrm>
            <a:off x="7639050" y="4333875"/>
            <a:ext cx="209550" cy="20955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9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257800" y="4772025"/>
            <a:ext cx="342900" cy="0"/>
          </a:xfrm>
          <a:prstGeom prst="line">
            <a:avLst/>
          </a:prstGeom>
          <a:ln w="9525">
            <a:solidFill>
              <a:srgbClr val="4444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305675" y="4772025"/>
            <a:ext cx="342900" cy="0"/>
          </a:xfrm>
          <a:prstGeom prst="line">
            <a:avLst/>
          </a:prstGeom>
          <a:ln w="9525">
            <a:solidFill>
              <a:srgbClr val="4444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501062" y="3695700"/>
            <a:ext cx="0" cy="647700"/>
          </a:xfrm>
          <a:prstGeom prst="line">
            <a:avLst/>
          </a:prstGeom>
          <a:ln w="13335">
            <a:solidFill>
              <a:srgbClr val="1A2B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05312" y="3162300"/>
            <a:ext cx="1621631" cy="1143000"/>
          </a:xfrm>
          <a:prstGeom prst="line">
            <a:avLst/>
          </a:prstGeom>
          <a:ln w="9525">
            <a:solidFill>
              <a:srgbClr val="44444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601200" y="1981200"/>
            <a:ext cx="1905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9696450" y="2152650"/>
            <a:ext cx="228600" cy="22860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20300" y="2095500"/>
            <a:ext cx="1428750" cy="3810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商談データ取込の</a:t>
            </a:r>
          </a:p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現状</a:t>
            </a:r>
          </a:p>
        </p:txBody>
      </p:sp>
      <p:sp>
        <p:nvSpPr>
          <p:cNvPr id="59" name="Oval 58"/>
          <p:cNvSpPr/>
          <p:nvPr/>
        </p:nvSpPr>
        <p:spPr>
          <a:xfrm>
            <a:off x="9696450" y="2686050"/>
            <a:ext cx="228600" cy="22860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20300" y="2628900"/>
            <a:ext cx="1428750" cy="3810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AI 分析機能の</a:t>
            </a:r>
          </a:p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現状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01200" y="4057650"/>
            <a:ext cx="1905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696450" y="4229100"/>
            <a:ext cx="228600" cy="22860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20300" y="4171950"/>
            <a:ext cx="1428750" cy="3810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ヒアリング設計の</a:t>
            </a:r>
          </a:p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現状</a:t>
            </a:r>
          </a:p>
        </p:txBody>
      </p:sp>
      <p:sp>
        <p:nvSpPr>
          <p:cNvPr id="64" name="Oval 63"/>
          <p:cNvSpPr/>
          <p:nvPr/>
        </p:nvSpPr>
        <p:spPr>
          <a:xfrm>
            <a:off x="9696450" y="4762500"/>
            <a:ext cx="228600" cy="228600"/>
          </a:xfrm>
          <a:prstGeom prst="ellipse">
            <a:avLst/>
          </a:prstGeom>
          <a:solidFill>
            <a:srgbClr val="1A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8575" rIns="28575" tIns="9525" bIns="9525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Noto Sans JP"/>
                <a:ea typeface="Noto Sans JP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20300" y="4705350"/>
            <a:ext cx="1428750" cy="381000"/>
          </a:xfrm>
          <a:prstGeom prst="rect">
            <a:avLst/>
          </a:prstGeom>
          <a:noFill/>
        </p:spPr>
        <p:txBody>
          <a:bodyPr wrap="square" lIns="28575" rIns="28575" tIns="9525" bIns="9525" anchor="ctr">
            <a:spAutoFit/>
          </a:bodyPr>
          <a:lstStyle/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提示プロセスの</a:t>
            </a:r>
          </a:p>
          <a:p>
            <a:pPr algn="l"/>
            <a:r>
              <a:rPr sz="787" b="1">
                <a:solidFill>
                  <a:srgbClr val="1A2B4A"/>
                </a:solidFill>
                <a:latin typeface="Noto Sans JP"/>
                <a:ea typeface="Noto Sans JP"/>
              </a:rPr>
              <a:t>現状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6250" y="1504950"/>
            <a:ext cx="9048750" cy="4552950"/>
          </a:xfrm>
          <a:prstGeom prst="rect">
            <a:avLst/>
          </a:prstGeom>
          <a:noFill/>
          <a:ln w="9525">
            <a:solidFill>
              <a:srgbClr val="C9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9100" y="6724650"/>
            <a:ext cx="9525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750" b="0">
                <a:solidFill>
                  <a:srgbClr val="777777"/>
                </a:solidFill>
                <a:latin typeface="Noto Sans JP"/>
                <a:ea typeface="Noto Sans JP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2500" y="6724650"/>
            <a:ext cx="7620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l"/>
            <a:r>
              <a:rPr sz="712" b="0">
                <a:solidFill>
                  <a:srgbClr val="777777"/>
                </a:solidFill>
                <a:latin typeface="Noto Sans JP"/>
                <a:ea typeface="Noto Sans JP"/>
              </a:rPr>
              <a:t>1. 営業プロセスの実態整理 ／ 1-3. AI 提案書作成ワークフローの現状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25000" y="6724650"/>
            <a:ext cx="2286000" cy="171450"/>
          </a:xfrm>
          <a:prstGeom prst="rect">
            <a:avLst/>
          </a:prstGeom>
          <a:noFill/>
        </p:spPr>
        <p:txBody>
          <a:bodyPr wrap="square" lIns="28575" rIns="28575" tIns="9525" bIns="9525" anchor="t">
            <a:spAutoFit/>
          </a:bodyPr>
          <a:lstStyle/>
          <a:p>
            <a:pPr algn="r"/>
            <a:r>
              <a:rPr sz="712" b="0">
                <a:solidFill>
                  <a:srgbClr val="777777"/>
                </a:solidFill>
                <a:latin typeface="Noto Sans JP"/>
                <a:ea typeface="Noto Sans JP"/>
              </a:rPr>
              <a:t>© 2026. 出典：社内営業プロセス分析資料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