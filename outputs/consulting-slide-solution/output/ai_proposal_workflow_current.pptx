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64592"/>
            <a:ext cx="114300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l"/>
            <a:r>
              <a:rPr sz="2400" b="1">
                <a:solidFill>
                  <a:srgbClr val="333333"/>
                </a:solidFill>
                <a:latin typeface="Yu Gothic"/>
              </a:rPr>
              <a:t>1-3 AI提案書作成ワークフローの現状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09728" cy="109728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3385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Yu Gothic"/>
              </a:rPr>
              <a:t>本ワークフローは、以下の4つのStepで構成される。Step1「リード獲得」、Step2「ヒアリング」、Step3「提案書作成」、Step4「クロージング」の順に進行する。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Yu Gothic"/>
              </a:rPr>
              <a:t>AI活用領域と人手作業領域が混在しており、特にStep1のリードスコアリングおよびStep3の提案書ドラフト生成ではAIによる効率化余地が大きい。一方、Step2のヒアリングおよび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Yu Gothic"/>
              </a:rPr>
              <a:t>Step4のクロージングは人的関係構築・交渉が中核を担い、人手依存度が高い状態にある。本資料では各ステップにおけるAI活用度合いと残存課題を整理し、今後の効率化打ち手の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Yu Gothic"/>
              </a:rPr>
              <a:t>検討材料とする。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783080"/>
            <a:ext cx="169164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l"/>
            <a:r>
              <a:rPr sz="900" b="0">
                <a:solidFill>
                  <a:srgbClr val="595959"/>
                </a:solidFill>
                <a:latin typeface="Yu Gothic"/>
              </a:rPr>
              <a:t>本資料のセクション番号と対応</a:t>
            </a:r>
          </a:p>
        </p:txBody>
      </p:sp>
      <p:sp>
        <p:nvSpPr>
          <p:cNvPr id="6" name="Pentagon 5"/>
          <p:cNvSpPr/>
          <p:nvPr/>
        </p:nvSpPr>
        <p:spPr>
          <a:xfrm>
            <a:off x="640080" y="2029968"/>
            <a:ext cx="2697480" cy="457200"/>
          </a:xfrm>
          <a:prstGeom prst="homePlate">
            <a:avLst/>
          </a:prstGeom>
          <a:solidFill>
            <a:srgbClr val="6FA84B"/>
          </a:solidFill>
          <a:ln>
            <a:solidFill>
              <a:srgbClr val="6F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Step1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リード獲得</a:t>
            </a:r>
          </a:p>
        </p:txBody>
      </p:sp>
      <p:sp>
        <p:nvSpPr>
          <p:cNvPr id="7" name="Pentagon 6"/>
          <p:cNvSpPr/>
          <p:nvPr/>
        </p:nvSpPr>
        <p:spPr>
          <a:xfrm>
            <a:off x="3383280" y="2029968"/>
            <a:ext cx="2697480" cy="457200"/>
          </a:xfrm>
          <a:prstGeom prst="homePlate">
            <a:avLst/>
          </a:prstGeom>
          <a:solidFill>
            <a:srgbClr val="6FA84B"/>
          </a:solidFill>
          <a:ln>
            <a:solidFill>
              <a:srgbClr val="6F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Step2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ヒアリング</a:t>
            </a:r>
          </a:p>
        </p:txBody>
      </p:sp>
      <p:sp>
        <p:nvSpPr>
          <p:cNvPr id="8" name="Pentagon 7"/>
          <p:cNvSpPr/>
          <p:nvPr/>
        </p:nvSpPr>
        <p:spPr>
          <a:xfrm>
            <a:off x="6126480" y="2029968"/>
            <a:ext cx="2697480" cy="457200"/>
          </a:xfrm>
          <a:prstGeom prst="homePlate">
            <a:avLst/>
          </a:prstGeom>
          <a:solidFill>
            <a:srgbClr val="6FA84B"/>
          </a:solidFill>
          <a:ln>
            <a:solidFill>
              <a:srgbClr val="6F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Step3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提案書作成</a:t>
            </a:r>
          </a:p>
        </p:txBody>
      </p:sp>
      <p:sp>
        <p:nvSpPr>
          <p:cNvPr id="9" name="Pentagon 8"/>
          <p:cNvSpPr/>
          <p:nvPr/>
        </p:nvSpPr>
        <p:spPr>
          <a:xfrm>
            <a:off x="8869680" y="2029968"/>
            <a:ext cx="2697480" cy="457200"/>
          </a:xfrm>
          <a:prstGeom prst="homePlate">
            <a:avLst/>
          </a:prstGeom>
          <a:solidFill>
            <a:srgbClr val="6FA84B"/>
          </a:solidFill>
          <a:ln>
            <a:solidFill>
              <a:srgbClr val="6F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7432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Step4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クロージング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0420.0" y="2606040"/>
            <a:ext cx="0.0" cy="3794760"/>
          </a:xfrm>
          <a:prstGeom prst="line">
            <a:avLst/>
          </a:prstGeom>
          <a:ln w="9525">
            <a:solidFill>
              <a:srgbClr val="BFBFB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03620.0" y="2606040"/>
            <a:ext cx="0.0" cy="3794760"/>
          </a:xfrm>
          <a:prstGeom prst="line">
            <a:avLst/>
          </a:prstGeom>
          <a:ln w="9525">
            <a:solidFill>
              <a:srgbClr val="BFBFB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46820.0" y="2606040"/>
            <a:ext cx="0.0" cy="3794760"/>
          </a:xfrm>
          <a:prstGeom prst="line">
            <a:avLst/>
          </a:prstGeom>
          <a:ln w="9525">
            <a:solidFill>
              <a:srgbClr val="BFBFB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3063240"/>
            <a:ext cx="502920" cy="15544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AI活用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領域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502920" cy="14630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人手作業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領域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97480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2章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現状リード獲得状況の把握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00400"/>
            <a:ext cx="2423160" cy="118872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本ワークフローの起点となるリード獲得チャネルにつき確認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" y="3584448"/>
            <a:ext cx="220370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自社の主要リードチャネル・案件発生件数の確認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697480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8章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提案・クロージング結果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3200400"/>
            <a:ext cx="2423160" cy="118872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提案実施および受注／失注結果の振り返り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6568" y="3584448"/>
            <a:ext cx="220370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提案実施・受注／失注の振り返り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017520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3章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案件データの分析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520440"/>
            <a:ext cx="2423160" cy="91440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CRM上の蓄積データを用いた優先案件の特定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0168" y="3904488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CRM上の案件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履歴整理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617720" y="4041648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3904488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リードスコアリング・優先度判定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526279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4章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ヒアリング前リサーチ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5029199"/>
            <a:ext cx="2423160" cy="91440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AIによる業界・競合情報の自動収集と仮説生成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0168" y="5413247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業界・競合情報の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自動収集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617720" y="5550407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5413247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想定課題仮説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の生成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017520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7章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過去提案資産との比較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520440"/>
            <a:ext cx="2423160" cy="91440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類似案件のRAG検索および提案書ドラフトの自動生成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3904488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類似案件のRAG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検索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360920" y="4041648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3904488"/>
            <a:ext cx="987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提案書ドラフト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の自動生成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5074920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5章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顧客ヒアリング実施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5577840"/>
            <a:ext cx="2423160" cy="100584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顧客課題の深掘りと関係構築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30168" y="5961888"/>
            <a:ext cx="220370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対面/オンラインによる課題深掘りと関係構築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074920"/>
            <a:ext cx="2423160" cy="502920"/>
          </a:xfrm>
          <a:prstGeom prst="rect">
            <a:avLst/>
          </a:prstGeom>
          <a:solidFill>
            <a:srgbClr val="5B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 wrap="square"/>
          <a:lstStyle/>
          <a:p>
            <a:pPr algn="ctr"/>
            <a:r>
              <a:rPr b="1" sz="900">
                <a:solidFill>
                  <a:srgbClr val="FFFFFF"/>
                </a:solidFill>
                <a:latin typeface="Yu Gothic"/>
              </a:rPr>
              <a:t>6章</a:t>
            </a:r>
          </a:p>
          <a:p>
            <a:pPr algn="ctr"/>
            <a:r>
              <a:rPr b="1" sz="1000">
                <a:solidFill>
                  <a:srgbClr val="FFFFFF"/>
                </a:solidFill>
                <a:latin typeface="Yu Gothic"/>
              </a:rPr>
              <a:t>提案書のカスタマイズ・レビュー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577840"/>
            <a:ext cx="2423160" cy="1005840"/>
          </a:xfrm>
          <a:prstGeom prst="rect">
            <a:avLst/>
          </a:prstGeom>
          <a:solidFill>
            <a:srgbClr val="E8F1DA"/>
          </a:solidFill>
          <a:ln w="15875">
            <a:solidFill>
              <a:srgbClr val="8FBF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0">
                <a:solidFill>
                  <a:srgbClr val="333333"/>
                </a:solidFill>
                <a:latin typeface="Yu Gothic"/>
              </a:rPr>
              <a:t>顧客文脈反映および社内レビューの実施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5961888"/>
            <a:ext cx="220370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>
                <a:solidFill>
                  <a:srgbClr val="333333"/>
                </a:solidFill>
                <a:latin typeface="Yu Gothic"/>
              </a:rPr>
              <a:t>顧客文脈の反映と社内レビュー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l"/>
            <a:r>
              <a:rPr sz="900" b="0">
                <a:solidFill>
                  <a:srgbClr val="595959"/>
                </a:solidFill>
                <a:latin typeface="Yu Gothic"/>
              </a:rPr>
              <a:t>AI提案書作成ワークフロー 現状分析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6565392"/>
            <a:ext cx="42062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r"/>
            <a:r>
              <a:rPr sz="900" b="0">
                <a:solidFill>
                  <a:srgbClr val="595959"/>
                </a:solidFill>
                <a:latin typeface="Yu Gothic"/>
              </a:rPr>
              <a:t>© 2026. Internal use only.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565392"/>
            <a:ext cx="27432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27432" bIns="27432" wrap="square"/>
          <a:lstStyle/>
          <a:p>
            <a:pPr algn="l"/>
            <a:r>
              <a:rPr sz="900" b="0">
                <a:solidFill>
                  <a:srgbClr val="595959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